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jpeg"/><Relationship Id="rId8" Type="http://schemas.openxmlformats.org/officeDocument/2006/relationships/image" Target="../media/image26.png"/><Relationship Id="rId7" Type="http://schemas.openxmlformats.org/officeDocument/2006/relationships/image" Target="../media/image25.jpeg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8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jpe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28091" y="1811511"/>
            <a:ext cx="5525134" cy="277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1765" algn="l" rtl="0" eaLnBrk="0">
              <a:lnSpc>
                <a:spcPct val="78000"/>
              </a:lnSpc>
            </a:pPr>
            <a:r>
              <a:rPr sz="5400" kern="0" spc="-40" dirty="0">
                <a:solidFill>
                  <a:srgbClr val="90CA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RDS  Contex</a:t>
            </a:r>
            <a:r>
              <a:rPr sz="5400" kern="0" spc="-50" dirty="0">
                <a:solidFill>
                  <a:srgbClr val="90CA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tDB</a:t>
            </a:r>
            <a:endParaRPr sz="5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" algn="l" rtl="0" eaLnBrk="0">
              <a:lnSpc>
                <a:spcPct val="91000"/>
              </a:lnSpc>
              <a:spcBef>
                <a:spcPts val="440"/>
              </a:spcBef>
            </a:pPr>
            <a:r>
              <a:rPr sz="1800" kern="0" spc="0" dirty="0">
                <a:solidFill>
                  <a:srgbClr val="90CA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面向Agent的企业</a:t>
            </a:r>
            <a:r>
              <a:rPr sz="1800" kern="0" spc="-10" dirty="0">
                <a:solidFill>
                  <a:srgbClr val="90CA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级上下文数据库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1360"/>
              </a:spcBef>
            </a:pPr>
            <a:r>
              <a:rPr sz="4500" kern="0" spc="600" dirty="0">
                <a:solidFill>
                  <a:srgbClr val="CFDB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sz="4500" kern="0" spc="0" dirty="0">
                <a:solidFill>
                  <a:srgbClr val="CFDB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</a:t>
            </a:r>
            <a:r>
              <a:rPr sz="4500" kern="0" spc="600" dirty="0">
                <a:solidFill>
                  <a:srgbClr val="CFDB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持续生长,</a:t>
            </a:r>
            <a:endParaRPr sz="4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6305"/>
              </a:lnSpc>
            </a:pPr>
            <a:r>
              <a:rPr sz="5100" kern="0" spc="-100" dirty="0">
                <a:solidFill>
                  <a:srgbClr val="D2DDF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让Agent持续进化</a:t>
            </a:r>
            <a:endParaRPr sz="5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3128387" y="2772288"/>
            <a:ext cx="2083435" cy="3120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94000"/>
              </a:lnSpc>
            </a:pPr>
            <a:r>
              <a:rPr sz="1500" b="1" kern="0" spc="1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1440"/>
              </a:spcBef>
            </a:pPr>
            <a:r>
              <a:rPr sz="900" kern="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产品定位</a:t>
            </a:r>
            <a:r>
              <a:rPr sz="900" kern="0" spc="1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900" kern="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核心理念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ct val="94000"/>
              </a:lnSpc>
              <a:spcBef>
                <a:spcPts val="45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</a:t>
            </a:r>
            <a:r>
              <a:rPr sz="1500" b="1" kern="0" spc="1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8000"/>
              </a:lnSpc>
              <a:spcBef>
                <a:spcPts val="1440"/>
              </a:spcBef>
            </a:pP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r>
              <a:rPr sz="900" kern="0" spc="2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r>
              <a:rPr sz="900" kern="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ct val="94000"/>
              </a:lnSpc>
              <a:spcBef>
                <a:spcPts val="45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</a:t>
            </a:r>
            <a:r>
              <a:rPr sz="1500" b="1" kern="0" spc="1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b="1" kern="0" spc="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98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典型应用场景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764666" y="1327418"/>
            <a:ext cx="1130300" cy="4358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1500" b="1" kern="0" spc="50" dirty="0">
                <a:solidFill>
                  <a:srgbClr val="90CAF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CONTENTS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5245" algn="l" rtl="0" eaLnBrk="0">
              <a:lnSpc>
                <a:spcPct val="89000"/>
              </a:lnSpc>
              <a:spcBef>
                <a:spcPts val="1085"/>
              </a:spcBef>
            </a:pPr>
            <a:r>
              <a:rPr sz="3600" b="1" kern="0" spc="310" dirty="0">
                <a:solidFill>
                  <a:srgbClr val="90CA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78000"/>
              </a:lnSpc>
              <a:spcBef>
                <a:spcPts val="910"/>
              </a:spcBef>
            </a:pPr>
            <a:r>
              <a:rPr sz="3000" b="1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78000"/>
              </a:lnSpc>
              <a:spcBef>
                <a:spcPts val="905"/>
              </a:spcBef>
            </a:pPr>
            <a:r>
              <a:rPr sz="3000" b="1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78000"/>
              </a:lnSpc>
              <a:spcBef>
                <a:spcPts val="5"/>
              </a:spcBef>
            </a:pPr>
            <a:r>
              <a:rPr sz="3000" b="1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path 12"/>
          <p:cNvSpPr/>
          <p:nvPr/>
        </p:nvSpPr>
        <p:spPr>
          <a:xfrm>
            <a:off x="2887979" y="2788920"/>
            <a:ext cx="27432" cy="3246119"/>
          </a:xfrm>
          <a:custGeom>
            <a:avLst/>
            <a:gdLst/>
            <a:ahLst/>
            <a:cxnLst/>
            <a:rect l="0" t="0" r="0" b="0"/>
            <a:pathLst>
              <a:path w="43" h="5111">
                <a:moveTo>
                  <a:pt x="0" y="1080"/>
                </a:moveTo>
                <a:lnTo>
                  <a:pt x="43" y="1080"/>
                </a:lnTo>
                <a:lnTo>
                  <a:pt x="43" y="0"/>
                </a:lnTo>
                <a:lnTo>
                  <a:pt x="0" y="0"/>
                </a:lnTo>
                <a:lnTo>
                  <a:pt x="0" y="1080"/>
                </a:lnTo>
                <a:close/>
              </a:path>
              <a:path w="43" h="5111">
                <a:moveTo>
                  <a:pt x="0" y="3095"/>
                </a:moveTo>
                <a:lnTo>
                  <a:pt x="43" y="3095"/>
                </a:lnTo>
                <a:lnTo>
                  <a:pt x="43" y="2015"/>
                </a:lnTo>
                <a:lnTo>
                  <a:pt x="0" y="2015"/>
                </a:lnTo>
                <a:lnTo>
                  <a:pt x="0" y="3095"/>
                </a:lnTo>
                <a:close/>
              </a:path>
              <a:path w="43" h="5111">
                <a:moveTo>
                  <a:pt x="0" y="5111"/>
                </a:moveTo>
                <a:lnTo>
                  <a:pt x="43" y="5111"/>
                </a:lnTo>
                <a:lnTo>
                  <a:pt x="43" y="4031"/>
                </a:lnTo>
                <a:lnTo>
                  <a:pt x="0" y="4031"/>
                </a:lnTo>
                <a:lnTo>
                  <a:pt x="0" y="5111"/>
                </a:lnTo>
                <a:close/>
              </a:path>
            </a:pathLst>
          </a:custGeom>
          <a:solidFill>
            <a:srgbClr val="90CA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2518928" y="1790018"/>
            <a:ext cx="1743075" cy="169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8000"/>
              </a:lnSpc>
              <a:spcBef>
                <a:spcPts val="0"/>
              </a:spcBef>
            </a:pPr>
            <a:r>
              <a:rPr sz="9200" b="1" kern="0" spc="-120" baseline="-1000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r>
              <a:rPr sz="14000" b="1" kern="0" spc="-690" dirty="0">
                <a:solidFill>
                  <a:srgbClr val="1E29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4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5099898" y="2778322"/>
            <a:ext cx="2477770" cy="979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89000"/>
              </a:lnSpc>
            </a:pPr>
            <a:r>
              <a:rPr sz="2600" b="1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 </a:t>
            </a:r>
            <a:r>
              <a:rPr sz="26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概述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  <a:spcBef>
                <a:spcPts val="5"/>
              </a:spcBef>
            </a:pPr>
            <a:r>
              <a:rPr sz="1200" i="1" kern="0" spc="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Positioning</a:t>
            </a:r>
            <a:r>
              <a:rPr sz="1200" i="1" kern="0" spc="17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i="1" kern="0" spc="5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200" i="1" kern="0" spc="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</a:t>
            </a:r>
            <a:r>
              <a:rPr sz="1200" i="1" kern="0" spc="5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i="1" kern="0" spc="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Idea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path 20"/>
          <p:cNvSpPr/>
          <p:nvPr/>
        </p:nvSpPr>
        <p:spPr>
          <a:xfrm>
            <a:off x="4762500" y="2731008"/>
            <a:ext cx="36576" cy="1600200"/>
          </a:xfrm>
          <a:custGeom>
            <a:avLst/>
            <a:gdLst/>
            <a:ahLst/>
            <a:cxnLst/>
            <a:rect l="0" t="0" r="0" b="0"/>
            <a:pathLst>
              <a:path w="57" h="2520">
                <a:moveTo>
                  <a:pt x="0" y="2520"/>
                </a:moveTo>
                <a:lnTo>
                  <a:pt x="57" y="2520"/>
                </a:lnTo>
                <a:lnTo>
                  <a:pt x="57" y="0"/>
                </a:lnTo>
                <a:lnTo>
                  <a:pt x="0" y="0"/>
                </a:lnTo>
                <a:lnTo>
                  <a:pt x="0" y="2520"/>
                </a:lnTo>
                <a:close/>
              </a:path>
            </a:pathLst>
          </a:custGeom>
          <a:solidFill>
            <a:srgbClr val="8B5C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27531" y="1246632"/>
            <a:ext cx="10145268" cy="5490971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623967" y="701122"/>
            <a:ext cx="4902200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16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 </a:t>
            </a:r>
            <a:r>
              <a:rPr sz="2700" b="1" kern="0" spc="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</a:t>
            </a:r>
            <a:r>
              <a:rPr sz="2700" b="1" kern="0" spc="31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24027" y="1094943"/>
            <a:ext cx="7454265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200" b="1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</a:t>
            </a:r>
            <a:r>
              <a:rPr sz="1200" b="1" kern="0" spc="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1200" b="1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的数据存储与管理基础服务，让分散、短暂、孤立的上下文，升级为统</a:t>
            </a:r>
            <a:r>
              <a:rPr sz="1200" b="1" kern="0" spc="-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一、长期、可复用的智能资产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9007856" y="6101124"/>
            <a:ext cx="1431289" cy="474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670"/>
              </a:lnSpc>
            </a:pPr>
            <a:r>
              <a:rPr sz="2400" kern="0" spc="40" dirty="0">
                <a:solidFill>
                  <a:srgbClr val="1F9D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sz="2400" kern="0" spc="220" dirty="0">
                <a:solidFill>
                  <a:srgbClr val="1F9D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 kern="0" spc="40" baseline="800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持续进化</a:t>
            </a:r>
            <a:endParaRPr sz="1600" baseline="8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6230" algn="l" rtl="0" eaLnBrk="0">
              <a:lnSpc>
                <a:spcPct val="95000"/>
              </a:lnSpc>
              <a:spcBef>
                <a:spcPts val="40"/>
              </a:spcBef>
            </a:pP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基于长期记忆不断学习，</a:t>
            </a:r>
            <a:r>
              <a:rPr sz="800" kern="0" spc="6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越用越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聪明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304411" y="6068816"/>
            <a:ext cx="1297939" cy="490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9000"/>
              </a:lnSpc>
            </a:pPr>
            <a:r>
              <a:rPr sz="1100" b="1" kern="0" spc="-1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协同增强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540" algn="l" rtl="0" eaLnBrk="0">
              <a:lnSpc>
                <a:spcPct val="95000"/>
              </a:lnSpc>
              <a:spcBef>
                <a:spcPts val="5"/>
              </a:spcBef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 围绕同一上下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文高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效协同，信息始终对齐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3348166" y="6068510"/>
            <a:ext cx="1148080" cy="495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100" b="1" kern="0" spc="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经验沉淀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7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95000"/>
              </a:lnSpc>
              <a:spcBef>
                <a:spcPts val="0"/>
              </a:spcBef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关键决策与最佳实践持续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沉淀为组织资产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1395329" y="6090250"/>
            <a:ext cx="1148080" cy="453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algn="l" rtl="0" eaLnBrk="0">
              <a:lnSpc>
                <a:spcPct val="89000"/>
              </a:lnSpc>
            </a:pPr>
            <a:r>
              <a:rPr sz="1100" b="1" kern="0" spc="-1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更高效率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" algn="l" rtl="0" eaLnBrk="0">
              <a:lnSpc>
                <a:spcPct val="95000"/>
              </a:lnSpc>
              <a:spcBef>
                <a:spcPts val="5"/>
              </a:spcBef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减少重复查找与沟通，让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快速上手和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7301640" y="6070949"/>
            <a:ext cx="1045844" cy="473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260" algn="l" rtl="0" eaLnBrk="0">
              <a:lnSpc>
                <a:spcPct val="89000"/>
              </a:lnSpc>
            </a:pPr>
            <a:r>
              <a:rPr sz="1100" b="1" kern="0" spc="-1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安全可控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统一权限与审计，保障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数据安全与合规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path 40"/>
          <p:cNvSpPr/>
          <p:nvPr/>
        </p:nvSpPr>
        <p:spPr>
          <a:xfrm>
            <a:off x="7031735" y="6126479"/>
            <a:ext cx="201168" cy="201167"/>
          </a:xfrm>
          <a:custGeom>
            <a:avLst/>
            <a:gdLst/>
            <a:ahLst/>
            <a:cxnLst/>
            <a:rect l="0" t="0" r="0" b="0"/>
            <a:pathLst>
              <a:path w="316" h="316">
                <a:moveTo>
                  <a:pt x="0" y="158"/>
                </a:moveTo>
                <a:cubicBezTo>
                  <a:pt x="0" y="70"/>
                  <a:pt x="71" y="0"/>
                  <a:pt x="158" y="0"/>
                </a:cubicBezTo>
                <a:cubicBezTo>
                  <a:pt x="245" y="0"/>
                  <a:pt x="316" y="70"/>
                  <a:pt x="316" y="158"/>
                </a:cubicBezTo>
                <a:cubicBezTo>
                  <a:pt x="316" y="245"/>
                  <a:pt x="245" y="316"/>
                  <a:pt x="158" y="316"/>
                </a:cubicBezTo>
                <a:cubicBezTo>
                  <a:pt x="71" y="316"/>
                  <a:pt x="0" y="245"/>
                  <a:pt x="0" y="158"/>
                </a:cubicBezTo>
              </a:path>
            </a:pathLst>
          </a:custGeom>
          <a:solidFill>
            <a:srgbClr val="1F9D5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" name="path 42"/>
          <p:cNvSpPr/>
          <p:nvPr/>
        </p:nvSpPr>
        <p:spPr>
          <a:xfrm>
            <a:off x="1101851" y="6146291"/>
            <a:ext cx="201168" cy="201168"/>
          </a:xfrm>
          <a:custGeom>
            <a:avLst/>
            <a:gdLst/>
            <a:ahLst/>
            <a:cxnLst/>
            <a:rect l="0" t="0" r="0" b="0"/>
            <a:pathLst>
              <a:path w="316" h="316">
                <a:moveTo>
                  <a:pt x="0" y="158"/>
                </a:moveTo>
                <a:cubicBezTo>
                  <a:pt x="0" y="70"/>
                  <a:pt x="70" y="0"/>
                  <a:pt x="158" y="0"/>
                </a:cubicBezTo>
                <a:cubicBezTo>
                  <a:pt x="245" y="0"/>
                  <a:pt x="316" y="70"/>
                  <a:pt x="316" y="158"/>
                </a:cubicBezTo>
                <a:cubicBezTo>
                  <a:pt x="316" y="245"/>
                  <a:pt x="245" y="316"/>
                  <a:pt x="158" y="316"/>
                </a:cubicBezTo>
                <a:cubicBezTo>
                  <a:pt x="70" y="316"/>
                  <a:pt x="0" y="245"/>
                  <a:pt x="0" y="158"/>
                </a:cubicBezTo>
              </a:path>
            </a:pathLst>
          </a:custGeom>
          <a:solidFill>
            <a:srgbClr val="1F9D5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path 44"/>
          <p:cNvSpPr/>
          <p:nvPr/>
        </p:nvSpPr>
        <p:spPr>
          <a:xfrm>
            <a:off x="3043427" y="6123432"/>
            <a:ext cx="201167" cy="201168"/>
          </a:xfrm>
          <a:custGeom>
            <a:avLst/>
            <a:gdLst/>
            <a:ahLst/>
            <a:cxnLst/>
            <a:rect l="0" t="0" r="0" b="0"/>
            <a:pathLst>
              <a:path w="316" h="316">
                <a:moveTo>
                  <a:pt x="0" y="158"/>
                </a:moveTo>
                <a:cubicBezTo>
                  <a:pt x="0" y="70"/>
                  <a:pt x="71" y="0"/>
                  <a:pt x="158" y="0"/>
                </a:cubicBezTo>
                <a:cubicBezTo>
                  <a:pt x="245" y="0"/>
                  <a:pt x="316" y="70"/>
                  <a:pt x="316" y="158"/>
                </a:cubicBezTo>
                <a:cubicBezTo>
                  <a:pt x="316" y="245"/>
                  <a:pt x="245" y="316"/>
                  <a:pt x="158" y="316"/>
                </a:cubicBezTo>
                <a:cubicBezTo>
                  <a:pt x="71" y="316"/>
                  <a:pt x="0" y="245"/>
                  <a:pt x="0" y="158"/>
                </a:cubicBezTo>
              </a:path>
            </a:pathLst>
          </a:custGeom>
          <a:solidFill>
            <a:srgbClr val="1F9D5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path 46"/>
          <p:cNvSpPr/>
          <p:nvPr/>
        </p:nvSpPr>
        <p:spPr>
          <a:xfrm>
            <a:off x="5000244" y="6123432"/>
            <a:ext cx="201167" cy="201168"/>
          </a:xfrm>
          <a:custGeom>
            <a:avLst/>
            <a:gdLst/>
            <a:ahLst/>
            <a:cxnLst/>
            <a:rect l="0" t="0" r="0" b="0"/>
            <a:pathLst>
              <a:path w="316" h="316">
                <a:moveTo>
                  <a:pt x="0" y="158"/>
                </a:moveTo>
                <a:cubicBezTo>
                  <a:pt x="0" y="70"/>
                  <a:pt x="71" y="0"/>
                  <a:pt x="158" y="0"/>
                </a:cubicBezTo>
                <a:cubicBezTo>
                  <a:pt x="245" y="0"/>
                  <a:pt x="316" y="70"/>
                  <a:pt x="316" y="158"/>
                </a:cubicBezTo>
                <a:cubicBezTo>
                  <a:pt x="316" y="245"/>
                  <a:pt x="245" y="316"/>
                  <a:pt x="158" y="316"/>
                </a:cubicBezTo>
                <a:cubicBezTo>
                  <a:pt x="71" y="316"/>
                  <a:pt x="0" y="245"/>
                  <a:pt x="0" y="158"/>
                </a:cubicBezTo>
              </a:path>
            </a:pathLst>
          </a:custGeom>
          <a:solidFill>
            <a:srgbClr val="1F9D5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366259" y="1603247"/>
            <a:ext cx="3703320" cy="4023360"/>
            <a:chOff x="0" y="0"/>
            <a:chExt cx="3703320" cy="4023360"/>
          </a:xfrm>
        </p:grpSpPr>
        <p:sp>
          <p:nvSpPr>
            <p:cNvPr id="50" name="rect 50"/>
            <p:cNvSpPr/>
            <p:nvPr/>
          </p:nvSpPr>
          <p:spPr>
            <a:xfrm>
              <a:off x="0" y="0"/>
              <a:ext cx="3703320" cy="4023360"/>
            </a:xfrm>
            <a:prstGeom prst="rect">
              <a:avLst/>
            </a:prstGeom>
            <a:solidFill>
              <a:srgbClr val="F1F5F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" name="path 52"/>
            <p:cNvSpPr/>
            <p:nvPr/>
          </p:nvSpPr>
          <p:spPr>
            <a:xfrm>
              <a:off x="274320" y="320040"/>
              <a:ext cx="822960" cy="822959"/>
            </a:xfrm>
            <a:custGeom>
              <a:avLst/>
              <a:gdLst/>
              <a:ahLst/>
              <a:cxnLst/>
              <a:rect l="0" t="0" r="0" b="0"/>
              <a:pathLst>
                <a:path w="1296" h="1295">
                  <a:moveTo>
                    <a:pt x="0" y="647"/>
                  </a:moveTo>
                  <a:cubicBezTo>
                    <a:pt x="0" y="290"/>
                    <a:pt x="290" y="0"/>
                    <a:pt x="647" y="0"/>
                  </a:cubicBezTo>
                  <a:lnTo>
                    <a:pt x="647" y="0"/>
                  </a:lnTo>
                  <a:cubicBezTo>
                    <a:pt x="1005" y="0"/>
                    <a:pt x="1296" y="290"/>
                    <a:pt x="1296" y="647"/>
                  </a:cubicBezTo>
                  <a:lnTo>
                    <a:pt x="1296" y="647"/>
                  </a:lnTo>
                  <a:cubicBezTo>
                    <a:pt x="1296" y="1005"/>
                    <a:pt x="1005" y="1295"/>
                    <a:pt x="647" y="1295"/>
                  </a:cubicBezTo>
                  <a:lnTo>
                    <a:pt x="647" y="1295"/>
                  </a:lnTo>
                  <a:cubicBezTo>
                    <a:pt x="290" y="1295"/>
                    <a:pt x="0" y="1005"/>
                    <a:pt x="0" y="647"/>
                  </a:cubicBezTo>
                </a:path>
              </a:pathLst>
            </a:custGeom>
            <a:solidFill>
              <a:srgbClr val="3B82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textbox 54"/>
            <p:cNvSpPr/>
            <p:nvPr/>
          </p:nvSpPr>
          <p:spPr>
            <a:xfrm>
              <a:off x="284480" y="619673"/>
              <a:ext cx="3073400" cy="26269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6540" algn="l" rtl="0" eaLnBrk="0">
                <a:lnSpc>
                  <a:spcPct val="82000"/>
                </a:lnSpc>
              </a:pPr>
              <a:r>
                <a:rPr sz="2100" b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4000"/>
                </a:lnSpc>
                <a:spcBef>
                  <a:spcPts val="460"/>
                </a:spcBef>
              </a:pPr>
              <a:r>
                <a:rPr sz="1500" b="1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Agent</a:t>
              </a:r>
              <a:r>
                <a:rPr sz="1500" b="1" kern="0" spc="12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500" b="1" kern="0" spc="12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记不住上下文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4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970" indent="-635" algn="l" rtl="0" eaLnBrk="0">
                <a:lnSpc>
                  <a:spcPct val="131000"/>
                </a:lnSpc>
                <a:spcBef>
                  <a:spcPts val="365"/>
                </a:spcBef>
              </a:pP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会话一断，之前的对话、决策过程、任务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进度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全部丢失。同一个坑，不同的人踩一遍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，不同</a:t>
              </a: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Agent </a:t>
              </a: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再踩一遍。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8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970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1200" kern="0" spc="-6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错误反复发生，经验无法积累。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" name="rect 56"/>
            <p:cNvSpPr/>
            <p:nvPr/>
          </p:nvSpPr>
          <p:spPr>
            <a:xfrm>
              <a:off x="0" y="0"/>
              <a:ext cx="3703320" cy="109728"/>
            </a:xfrm>
            <a:prstGeom prst="rect">
              <a:avLst/>
            </a:pr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" name="path 58"/>
            <p:cNvSpPr/>
            <p:nvPr/>
          </p:nvSpPr>
          <p:spPr>
            <a:xfrm>
              <a:off x="274320" y="1874520"/>
              <a:ext cx="457200" cy="27432"/>
            </a:xfrm>
            <a:custGeom>
              <a:avLst/>
              <a:gdLst/>
              <a:ahLst/>
              <a:cxnLst/>
              <a:rect l="0" t="0" r="0" b="0"/>
              <a:pathLst>
                <a:path w="720" h="43">
                  <a:moveTo>
                    <a:pt x="0" y="43"/>
                  </a:moveTo>
                  <a:lnTo>
                    <a:pt x="720" y="43"/>
                  </a:lnTo>
                  <a:lnTo>
                    <a:pt x="720" y="0"/>
                  </a:lnTo>
                  <a:lnTo>
                    <a:pt x="0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8206740" y="1603247"/>
            <a:ext cx="3703320" cy="4023360"/>
            <a:chOff x="0" y="0"/>
            <a:chExt cx="3703320" cy="4023360"/>
          </a:xfrm>
        </p:grpSpPr>
        <p:sp>
          <p:nvSpPr>
            <p:cNvPr id="60" name="rect 60"/>
            <p:cNvSpPr/>
            <p:nvPr/>
          </p:nvSpPr>
          <p:spPr>
            <a:xfrm>
              <a:off x="0" y="0"/>
              <a:ext cx="3703319" cy="4023360"/>
            </a:xfrm>
            <a:prstGeom prst="rect">
              <a:avLst/>
            </a:prstGeom>
            <a:solidFill>
              <a:srgbClr val="F1F5F9">
                <a:alpha val="98823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path 62"/>
            <p:cNvSpPr/>
            <p:nvPr/>
          </p:nvSpPr>
          <p:spPr>
            <a:xfrm>
              <a:off x="274319" y="320040"/>
              <a:ext cx="822959" cy="822959"/>
            </a:xfrm>
            <a:custGeom>
              <a:avLst/>
              <a:gdLst/>
              <a:ahLst/>
              <a:cxnLst/>
              <a:rect l="0" t="0" r="0" b="0"/>
              <a:pathLst>
                <a:path w="1295" h="1295">
                  <a:moveTo>
                    <a:pt x="0" y="647"/>
                  </a:moveTo>
                  <a:cubicBezTo>
                    <a:pt x="0" y="290"/>
                    <a:pt x="290" y="0"/>
                    <a:pt x="648" y="0"/>
                  </a:cubicBezTo>
                  <a:lnTo>
                    <a:pt x="648" y="0"/>
                  </a:lnTo>
                  <a:cubicBezTo>
                    <a:pt x="1005" y="0"/>
                    <a:pt x="1295" y="290"/>
                    <a:pt x="1295" y="647"/>
                  </a:cubicBezTo>
                  <a:lnTo>
                    <a:pt x="1295" y="647"/>
                  </a:lnTo>
                  <a:cubicBezTo>
                    <a:pt x="1295" y="1005"/>
                    <a:pt x="1005" y="1295"/>
                    <a:pt x="648" y="1295"/>
                  </a:cubicBezTo>
                  <a:lnTo>
                    <a:pt x="648" y="1295"/>
                  </a:lnTo>
                  <a:cubicBezTo>
                    <a:pt x="290" y="1295"/>
                    <a:pt x="0" y="1005"/>
                    <a:pt x="0" y="647"/>
                  </a:cubicBezTo>
                </a:path>
              </a:pathLst>
            </a:custGeom>
            <a:solidFill>
              <a:srgbClr val="3B82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" name="textbox 64"/>
            <p:cNvSpPr/>
            <p:nvPr/>
          </p:nvSpPr>
          <p:spPr>
            <a:xfrm>
              <a:off x="286329" y="619673"/>
              <a:ext cx="3072764" cy="23799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4635" algn="l" rtl="0" eaLnBrk="0">
                <a:lnSpc>
                  <a:spcPct val="82000"/>
                </a:lnSpc>
              </a:pPr>
              <a:r>
                <a:rPr sz="2100" b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4000"/>
                </a:lnSpc>
                <a:spcBef>
                  <a:spcPts val="460"/>
                </a:spcBef>
              </a:pPr>
              <a:r>
                <a:rPr sz="1500" b="1" kern="0" spc="9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知识库建立困难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4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335" algn="l" rtl="0" eaLnBrk="0">
                <a:lnSpc>
                  <a:spcPct val="132000"/>
                </a:lnSpc>
                <a:spcBef>
                  <a:spcPts val="365"/>
                </a:spcBef>
              </a:pP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传统知识库依赖人工建设和维护：建的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时候费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劲、建完没人更新、半年就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过时。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7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33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本质问题：靠人维护的知识库无法长期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运行。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6" name="rect 66"/>
            <p:cNvSpPr/>
            <p:nvPr/>
          </p:nvSpPr>
          <p:spPr>
            <a:xfrm>
              <a:off x="0" y="0"/>
              <a:ext cx="3703320" cy="109728"/>
            </a:xfrm>
            <a:prstGeom prst="rect">
              <a:avLst/>
            </a:pr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8" name="path 68"/>
            <p:cNvSpPr/>
            <p:nvPr/>
          </p:nvSpPr>
          <p:spPr>
            <a:xfrm>
              <a:off x="274319" y="1874520"/>
              <a:ext cx="457200" cy="27432"/>
            </a:xfrm>
            <a:custGeom>
              <a:avLst/>
              <a:gdLst/>
              <a:ahLst/>
              <a:cxnLst/>
              <a:rect l="0" t="0" r="0" b="0"/>
              <a:pathLst>
                <a:path w="720" h="43">
                  <a:moveTo>
                    <a:pt x="0" y="43"/>
                  </a:moveTo>
                  <a:lnTo>
                    <a:pt x="720" y="43"/>
                  </a:lnTo>
                  <a:lnTo>
                    <a:pt x="720" y="0"/>
                  </a:lnTo>
                  <a:lnTo>
                    <a:pt x="0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525780" y="1603247"/>
            <a:ext cx="3703320" cy="4023360"/>
            <a:chOff x="0" y="0"/>
            <a:chExt cx="3703320" cy="4023360"/>
          </a:xfrm>
        </p:grpSpPr>
        <p:sp>
          <p:nvSpPr>
            <p:cNvPr id="70" name="rect 70"/>
            <p:cNvSpPr/>
            <p:nvPr/>
          </p:nvSpPr>
          <p:spPr>
            <a:xfrm>
              <a:off x="0" y="0"/>
              <a:ext cx="3703320" cy="4023360"/>
            </a:xfrm>
            <a:prstGeom prst="rect">
              <a:avLst/>
            </a:prstGeom>
            <a:solidFill>
              <a:srgbClr val="F1F5F9">
                <a:alpha val="97254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2" name="path 72"/>
            <p:cNvSpPr/>
            <p:nvPr/>
          </p:nvSpPr>
          <p:spPr>
            <a:xfrm>
              <a:off x="274319" y="320040"/>
              <a:ext cx="822960" cy="822959"/>
            </a:xfrm>
            <a:custGeom>
              <a:avLst/>
              <a:gdLst/>
              <a:ahLst/>
              <a:cxnLst/>
              <a:rect l="0" t="0" r="0" b="0"/>
              <a:pathLst>
                <a:path w="1296" h="1295">
                  <a:moveTo>
                    <a:pt x="0" y="647"/>
                  </a:moveTo>
                  <a:cubicBezTo>
                    <a:pt x="0" y="290"/>
                    <a:pt x="290" y="0"/>
                    <a:pt x="648" y="0"/>
                  </a:cubicBezTo>
                  <a:lnTo>
                    <a:pt x="648" y="0"/>
                  </a:lnTo>
                  <a:cubicBezTo>
                    <a:pt x="1005" y="0"/>
                    <a:pt x="1296" y="290"/>
                    <a:pt x="1296" y="647"/>
                  </a:cubicBezTo>
                  <a:lnTo>
                    <a:pt x="1296" y="647"/>
                  </a:lnTo>
                  <a:cubicBezTo>
                    <a:pt x="1296" y="1005"/>
                    <a:pt x="1005" y="1295"/>
                    <a:pt x="648" y="1295"/>
                  </a:cubicBezTo>
                  <a:lnTo>
                    <a:pt x="648" y="1295"/>
                  </a:lnTo>
                  <a:cubicBezTo>
                    <a:pt x="290" y="1295"/>
                    <a:pt x="0" y="1005"/>
                    <a:pt x="0" y="647"/>
                  </a:cubicBezTo>
                </a:path>
              </a:pathLst>
            </a:custGeom>
            <a:solidFill>
              <a:srgbClr val="3B82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" name="textbox 74"/>
            <p:cNvSpPr/>
            <p:nvPr/>
          </p:nvSpPr>
          <p:spPr>
            <a:xfrm>
              <a:off x="283870" y="619673"/>
              <a:ext cx="3057525" cy="2642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6540" algn="l" rtl="0" eaLnBrk="0">
                <a:lnSpc>
                  <a:spcPct val="82000"/>
                </a:lnSpc>
              </a:pPr>
              <a:r>
                <a:rPr sz="2100" b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335" algn="l" rtl="0" eaLnBrk="0">
                <a:lnSpc>
                  <a:spcPct val="94000"/>
                </a:lnSpc>
                <a:spcBef>
                  <a:spcPts val="460"/>
                </a:spcBef>
              </a:pPr>
              <a:r>
                <a:rPr sz="1500" b="1" kern="0" spc="9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知识散落各处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4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2540" algn="l" rtl="0" eaLnBrk="0">
                <a:lnSpc>
                  <a:spcPct val="132000"/>
                </a:lnSpc>
                <a:spcBef>
                  <a:spcPts val="370"/>
                </a:spcBef>
              </a:pP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业务知识散布在钉钉、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PRD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、技术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方案、     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Aone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、代码注释，甚至老员工经验里。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970" indent="635" algn="l" rtl="0" eaLnBrk="0">
                <a:lnSpc>
                  <a:spcPct val="132000"/>
                </a:lnSpc>
                <a:spcBef>
                  <a:spcPts val="0"/>
                </a:spcBef>
              </a:pP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没有统一沉淀，新人摸索成本高，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Agent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也无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从获取。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6" name="rect 76"/>
            <p:cNvSpPr/>
            <p:nvPr/>
          </p:nvSpPr>
          <p:spPr>
            <a:xfrm>
              <a:off x="0" y="0"/>
              <a:ext cx="3703320" cy="109728"/>
            </a:xfrm>
            <a:prstGeom prst="rect">
              <a:avLst/>
            </a:pr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8" name="path 78"/>
            <p:cNvSpPr/>
            <p:nvPr/>
          </p:nvSpPr>
          <p:spPr>
            <a:xfrm>
              <a:off x="274319" y="1874520"/>
              <a:ext cx="457200" cy="27432"/>
            </a:xfrm>
            <a:custGeom>
              <a:avLst/>
              <a:gdLst/>
              <a:ahLst/>
              <a:cxnLst/>
              <a:rect l="0" t="0" r="0" b="0"/>
              <a:pathLst>
                <a:path w="720" h="43">
                  <a:moveTo>
                    <a:pt x="0" y="43"/>
                  </a:moveTo>
                  <a:lnTo>
                    <a:pt x="720" y="43"/>
                  </a:lnTo>
                  <a:lnTo>
                    <a:pt x="720" y="0"/>
                  </a:lnTo>
                  <a:lnTo>
                    <a:pt x="0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textbox 80"/>
          <p:cNvSpPr/>
          <p:nvPr/>
        </p:nvSpPr>
        <p:spPr>
          <a:xfrm>
            <a:off x="525780" y="5763767"/>
            <a:ext cx="11109959" cy="951230"/>
          </a:xfrm>
          <a:prstGeom prst="rect">
            <a:avLst/>
          </a:prstGeom>
          <a:solidFill>
            <a:srgbClr val="EEF2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3525" algn="l" rtl="0" eaLnBrk="0">
              <a:lnSpc>
                <a:spcPct val="89000"/>
              </a:lnSpc>
              <a:spcBef>
                <a:spcPts val="0"/>
              </a:spcBef>
            </a:pPr>
            <a:r>
              <a:rPr sz="1100" i="1" kern="0" spc="-20" dirty="0">
                <a:solidFill>
                  <a:srgbClr val="8B5C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</a:t>
            </a:r>
            <a:r>
              <a:rPr sz="1100" i="1" kern="0" spc="250" dirty="0">
                <a:solidFill>
                  <a:srgbClr val="8B5C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i="1" kern="0" spc="-20" dirty="0">
                <a:solidFill>
                  <a:srgbClr val="8B5CF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的核心理念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9715" algn="l" rtl="0" eaLnBrk="0">
              <a:lnSpc>
                <a:spcPct val="89000"/>
              </a:lnSpc>
            </a:pPr>
            <a:r>
              <a:rPr sz="1500" b="1" kern="0" spc="-2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 </a:t>
            </a:r>
            <a:r>
              <a:rPr sz="1500" b="1" kern="0" spc="-2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</a:t>
            </a:r>
            <a:r>
              <a:rPr sz="1500" b="1" kern="0" spc="-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r>
              <a:rPr sz="1500" b="1" kern="0" spc="-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"</a:t>
            </a:r>
            <a:r>
              <a:rPr sz="1500" b="1" kern="0" spc="-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存数据</a:t>
            </a:r>
            <a:r>
              <a:rPr sz="1500" b="1" kern="0" spc="-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"</a:t>
            </a:r>
            <a:r>
              <a:rPr sz="1500" b="1" kern="0" spc="-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，而是让上下文自动流转、让知识持续生长。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537470" y="745064"/>
            <a:ext cx="7063740" cy="660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2000"/>
              </a:lnSpc>
            </a:pPr>
            <a:r>
              <a:rPr sz="2700" b="1" kern="0" spc="15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 </a:t>
            </a:r>
            <a:r>
              <a:rPr sz="2700" b="1" kern="0" spc="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1200" kern="0" spc="9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让企业知识像滚雪球一样持续</a:t>
            </a:r>
            <a:r>
              <a:rPr sz="1200" kern="0" spc="8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积累。用得越多，</a:t>
            </a:r>
            <a:r>
              <a:rPr sz="1200" kern="0" spc="-15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1200" kern="0" spc="12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8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越懂你的业务</a:t>
            </a:r>
            <a:r>
              <a:rPr sz="1200" kern="0" spc="8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1200" kern="0" spc="8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而不是永远停在第一天。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5063642" y="2676849"/>
            <a:ext cx="3148329" cy="980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89000"/>
              </a:lnSpc>
            </a:pPr>
            <a:r>
              <a:rPr sz="2600" b="1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 </a:t>
            </a:r>
            <a:r>
              <a:rPr sz="26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  <a:spcBef>
                <a:spcPts val="0"/>
              </a:spcBef>
            </a:pPr>
            <a:r>
              <a:rPr sz="1200" i="1" kern="0" spc="2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Architecture</a:t>
            </a:r>
            <a:r>
              <a:rPr sz="1200" i="1" kern="0" spc="14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i="1" kern="0" spc="2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·C</a:t>
            </a:r>
            <a:r>
              <a:rPr sz="1200" i="1" kern="0" spc="10" dirty="0">
                <a:solidFill>
                  <a:srgbClr val="CBD5E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apability ·Performance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2492131" y="1688545"/>
            <a:ext cx="1743075" cy="169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8000"/>
              </a:lnSpc>
              <a:spcBef>
                <a:spcPts val="0"/>
              </a:spcBef>
            </a:pPr>
            <a:r>
              <a:rPr sz="9200" b="1" kern="0" spc="-120" baseline="-1000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r>
              <a:rPr sz="14000" b="1" kern="0" spc="-690" dirty="0">
                <a:solidFill>
                  <a:srgbClr val="1E29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4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0" name="path 90"/>
          <p:cNvSpPr/>
          <p:nvPr/>
        </p:nvSpPr>
        <p:spPr>
          <a:xfrm>
            <a:off x="4735067" y="2630423"/>
            <a:ext cx="36576" cy="1600200"/>
          </a:xfrm>
          <a:custGeom>
            <a:avLst/>
            <a:gdLst/>
            <a:ahLst/>
            <a:cxnLst/>
            <a:rect l="0" t="0" r="0" b="0"/>
            <a:pathLst>
              <a:path w="57" h="2520">
                <a:moveTo>
                  <a:pt x="0" y="2520"/>
                </a:moveTo>
                <a:lnTo>
                  <a:pt x="57" y="2520"/>
                </a:lnTo>
                <a:lnTo>
                  <a:pt x="57" y="0"/>
                </a:lnTo>
                <a:lnTo>
                  <a:pt x="0" y="0"/>
                </a:lnTo>
                <a:lnTo>
                  <a:pt x="0" y="2520"/>
                </a:lnTo>
                <a:close/>
              </a:path>
            </a:pathLst>
          </a:custGeom>
          <a:solidFill>
            <a:srgbClr val="8B5C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18" y="0"/>
            <a:ext cx="12184380" cy="6857998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513841" y="671071"/>
            <a:ext cx="7644765" cy="659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92000"/>
              </a:lnSpc>
            </a:pPr>
            <a:r>
              <a:rPr sz="2700" b="1" kern="0" spc="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</a:t>
            </a:r>
            <a:r>
              <a:rPr sz="2700" b="1" kern="0" spc="27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</a:t>
            </a:r>
            <a:r>
              <a:rPr sz="2700" b="1" kern="0" spc="13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：企业级云端上下文管理服务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  <a:spcBef>
                <a:spcPts val="5"/>
              </a:spcBef>
            </a:pPr>
            <a:r>
              <a:rPr sz="12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sz="1200" kern="0" spc="-8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sz="1200" kern="0" spc="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的经验与进度升级为组织可复用、可管理、可治理的上</a:t>
            </a:r>
            <a:r>
              <a:rPr sz="1200" kern="0" spc="-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下文资产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graphicFrame>
        <p:nvGraphicFramePr>
          <p:cNvPr id="98" name="table 98"/>
          <p:cNvGraphicFramePr>
            <a:graphicFrameLocks noGrp="1"/>
          </p:cNvGraphicFramePr>
          <p:nvPr/>
        </p:nvGraphicFramePr>
        <p:xfrm>
          <a:off x="514984" y="1744853"/>
          <a:ext cx="7138669" cy="4852034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834764"/>
                <a:gridCol w="3303904"/>
              </a:tblGrid>
              <a:tr h="2560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9171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8992" y="4328159"/>
            <a:ext cx="6009131" cy="1792224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8159" y="1792223"/>
            <a:ext cx="3694175" cy="2490216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86655" y="2270759"/>
            <a:ext cx="3128772" cy="1606296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621899" y="838710"/>
            <a:ext cx="3893184" cy="765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2000"/>
              </a:lnSpc>
            </a:pPr>
            <a:r>
              <a:rPr sz="2700" b="1" kern="0" spc="13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技术特性</a:t>
            </a:r>
            <a:r>
              <a:rPr sz="2700" b="1" kern="0" spc="27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13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2700" b="1" kern="0" spc="13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记忆存储结构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200" kern="0" spc="1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sz="1200" kern="0" spc="-6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1200" kern="0" spc="11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1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真正记住用户、经</a:t>
            </a:r>
            <a:r>
              <a:rPr sz="1200" kern="0" spc="10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验与事实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7924800" y="2269236"/>
            <a:ext cx="3840480" cy="737147"/>
            <a:chOff x="0" y="0"/>
            <a:chExt cx="3840480" cy="737147"/>
          </a:xfrm>
        </p:grpSpPr>
        <p:sp>
          <p:nvSpPr>
            <p:cNvPr id="108" name="rect 108"/>
            <p:cNvSpPr/>
            <p:nvPr/>
          </p:nvSpPr>
          <p:spPr>
            <a:xfrm>
              <a:off x="0" y="0"/>
              <a:ext cx="3840480" cy="685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" name="textbox 110"/>
            <p:cNvSpPr/>
            <p:nvPr/>
          </p:nvSpPr>
          <p:spPr>
            <a:xfrm>
              <a:off x="-12700" y="-12700"/>
              <a:ext cx="3866515" cy="762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746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1100" kern="0" spc="0" dirty="0">
                  <a:solidFill>
                    <a:srgbClr val="6666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会话记忆</a:t>
              </a:r>
              <a:r>
                <a:rPr sz="1100" kern="0" spc="0" dirty="0">
                  <a:solidFill>
                    <a:srgbClr val="66666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(Episodic)</a:t>
              </a:r>
              <a:r>
                <a:rPr sz="1100" kern="0" spc="0" dirty="0">
                  <a:solidFill>
                    <a:srgbClr val="6666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记录对话事实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9370" algn="l" rtl="0" eaLnBrk="0">
                <a:lnSpc>
                  <a:spcPts val="1980"/>
                </a:lnSpc>
              </a:pPr>
              <a:r>
                <a:rPr sz="1100" kern="0" spc="0" dirty="0">
                  <a:solidFill>
                    <a:srgbClr val="6666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用户画像</a:t>
              </a:r>
              <a:r>
                <a:rPr sz="1100" kern="0" spc="0" dirty="0">
                  <a:solidFill>
                    <a:srgbClr val="66666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(Profile)</a:t>
              </a:r>
              <a:r>
                <a:rPr sz="1100" kern="0" spc="0" dirty="0">
                  <a:solidFill>
                    <a:srgbClr val="6666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记录偏好决</a:t>
              </a:r>
              <a:r>
                <a:rPr sz="1100" kern="0" spc="-10" dirty="0">
                  <a:solidFill>
                    <a:srgbClr val="6666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1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8735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1100" kern="0" spc="0" dirty="0">
                  <a:solidFill>
                    <a:srgbClr val="6666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经验记忆</a:t>
              </a:r>
              <a:r>
                <a:rPr sz="1100" kern="0" spc="0" dirty="0">
                  <a:solidFill>
                    <a:srgbClr val="66666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(Procedural)</a:t>
              </a:r>
              <a:r>
                <a:rPr sz="1100" kern="0" spc="0" dirty="0">
                  <a:solidFill>
                    <a:srgbClr val="66666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沉淀自学习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12" name="textbox 112"/>
          <p:cNvSpPr/>
          <p:nvPr/>
        </p:nvSpPr>
        <p:spPr>
          <a:xfrm>
            <a:off x="7833359" y="4914900"/>
            <a:ext cx="3840479" cy="70421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89000"/>
              </a:lnSpc>
            </a:pP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记忆隔离：</a:t>
            </a: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私有记忆严格隔离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1115" algn="l" rtl="0" eaLnBrk="0">
              <a:lnSpc>
                <a:spcPct val="89000"/>
              </a:lnSpc>
              <a:spcBef>
                <a:spcPts val="155"/>
              </a:spcBef>
            </a:pP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记忆共享：企业知识一次更新，多</a:t>
            </a: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1100" kern="0" spc="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端同步学习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7924800" y="3636264"/>
            <a:ext cx="3841115" cy="6858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ct val="89000"/>
              </a:lnSpc>
              <a:spcBef>
                <a:spcPts val="5"/>
              </a:spcBef>
            </a:pPr>
            <a:r>
              <a:rPr sz="1100" kern="0" spc="-1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实体信息 </a:t>
            </a:r>
            <a:r>
              <a:rPr sz="1100" kern="0" spc="-1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</a:t>
            </a:r>
            <a:r>
              <a:rPr sz="1100" kern="0" spc="-1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原子事实</a:t>
            </a:r>
            <a:r>
              <a:rPr sz="1100" kern="0" spc="39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-1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</a:t>
            </a:r>
            <a:r>
              <a:rPr sz="1100" kern="0" spc="-1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记忆图谱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7847627" y="4576704"/>
            <a:ext cx="1441450" cy="24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500" b="1" kern="0" spc="9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企业级记忆管控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7939902" y="3367792"/>
            <a:ext cx="1440814" cy="24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500" b="1" kern="0" spc="9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记忆结构化存储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7941726" y="1912372"/>
            <a:ext cx="1438910" cy="24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500" b="1" kern="0" spc="8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三类记忆全覆盖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6448" y="1505712"/>
            <a:ext cx="11286744" cy="4754879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552899" y="780370"/>
            <a:ext cx="3180079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14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技术特性</a:t>
            </a:r>
            <a:r>
              <a:rPr sz="2700" b="1" kern="0" spc="25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14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2700" b="1" kern="0" spc="14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记忆存取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4053452" y="2782519"/>
            <a:ext cx="383540" cy="2345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700" b="1" kern="0" spc="170" dirty="0">
                <a:solidFill>
                  <a:srgbClr val="2764E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</a:t>
            </a:r>
            <a:r>
              <a:rPr sz="2700" b="1" kern="0" spc="30" dirty="0">
                <a:solidFill>
                  <a:srgbClr val="2764E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2700" b="1" kern="0" spc="20" dirty="0">
                <a:solidFill>
                  <a:srgbClr val="2764E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700" b="1" kern="0" spc="170" dirty="0">
                <a:solidFill>
                  <a:srgbClr val="2764E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549360" y="1341673"/>
            <a:ext cx="2677795" cy="204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200" kern="0" spc="1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sz="1200" kern="0" spc="-6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1200" kern="0" spc="11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11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真正记住用户、经</a:t>
            </a:r>
            <a:r>
              <a:rPr sz="1200" kern="0" spc="10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验与事实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31079" y="1353311"/>
            <a:ext cx="6373367" cy="5338572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658368" y="1805940"/>
            <a:ext cx="3566160" cy="3566159"/>
            <a:chOff x="0" y="0"/>
            <a:chExt cx="3566160" cy="3566159"/>
          </a:xfrm>
        </p:grpSpPr>
        <p:sp>
          <p:nvSpPr>
            <p:cNvPr id="136" name="rect 136"/>
            <p:cNvSpPr/>
            <p:nvPr/>
          </p:nvSpPr>
          <p:spPr>
            <a:xfrm>
              <a:off x="0" y="0"/>
              <a:ext cx="3566160" cy="3566159"/>
            </a:xfrm>
            <a:prstGeom prst="rect">
              <a:avLst/>
            </a:prstGeom>
            <a:solidFill>
              <a:srgbClr val="F1F5F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" name="rect 138"/>
            <p:cNvSpPr/>
            <p:nvPr/>
          </p:nvSpPr>
          <p:spPr>
            <a:xfrm>
              <a:off x="0" y="0"/>
              <a:ext cx="3566159" cy="822959"/>
            </a:xfrm>
            <a:prstGeom prst="rect">
              <a:avLst/>
            </a:prstGeom>
            <a:solidFill>
              <a:srgbClr val="2563E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0" name="textbox 140"/>
            <p:cNvSpPr/>
            <p:nvPr/>
          </p:nvSpPr>
          <p:spPr>
            <a:xfrm>
              <a:off x="286765" y="169621"/>
              <a:ext cx="3258820" cy="2337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9000"/>
                </a:lnSpc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路径一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3970" algn="l" rtl="0" eaLnBrk="0">
                <a:lnSpc>
                  <a:spcPct val="94000"/>
                </a:lnSpc>
                <a:spcBef>
                  <a:spcPts val="1255"/>
                </a:spcBef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主动建设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5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335" algn="l" rtl="0" eaLnBrk="0">
                <a:lnSpc>
                  <a:spcPct val="96000"/>
                </a:lnSpc>
                <a:spcBef>
                  <a:spcPts val="365"/>
                </a:spcBef>
              </a:pPr>
              <a:r>
                <a:rPr sz="1200" b="1" kern="0" spc="90" dirty="0">
                  <a:solidFill>
                    <a:srgbClr val="2563E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高质量知识结构化入库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9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" algn="l" rtl="0" eaLnBrk="0">
                <a:lnSpc>
                  <a:spcPct val="89000"/>
                </a:lnSpc>
                <a:spcBef>
                  <a:spcPts val="360"/>
                </a:spcBef>
              </a:pP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1200" kern="0" spc="14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上传 </a:t>
              </a: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TXT/PDF/Word/Ma</a:t>
              </a: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rkdown/</a:t>
              </a: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图片（多模）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780" algn="l" rtl="0" eaLnBrk="0">
                <a:lnSpc>
                  <a:spcPct val="89000"/>
                </a:lnSpc>
                <a:spcBef>
                  <a:spcPts val="880"/>
                </a:spcBef>
              </a:pP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1200" kern="0" spc="15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系统自动向量化并图谱化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780" algn="l" rtl="0" eaLnBrk="0">
                <a:lnSpc>
                  <a:spcPct val="89000"/>
                </a:lnSpc>
                <a:spcBef>
                  <a:spcPts val="880"/>
                </a:spcBef>
              </a:pP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1200" kern="0" spc="14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提取实体、关系与事实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1200" kern="0" spc="14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构建结构化知识图谱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42" name="textbox 142"/>
          <p:cNvSpPr/>
          <p:nvPr/>
        </p:nvSpPr>
        <p:spPr>
          <a:xfrm>
            <a:off x="399588" y="662816"/>
            <a:ext cx="7085330" cy="629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12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技术特性</a:t>
            </a:r>
            <a:r>
              <a:rPr sz="2700" b="1" kern="0" spc="26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120" dirty="0">
                <a:solidFill>
                  <a:srgbClr val="0F172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2700" b="1" kern="0" spc="12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知识管理：</a:t>
            </a:r>
            <a:r>
              <a:rPr sz="2700" b="1" kern="0" spc="11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三条路径构建知识体系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96000"/>
              </a:lnSpc>
              <a:spcBef>
                <a:spcPts val="5"/>
              </a:spcBef>
            </a:pPr>
            <a:r>
              <a:rPr sz="1200" kern="0" spc="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</a:t>
            </a:r>
            <a:r>
              <a:rPr sz="1200" kern="0" spc="9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9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通过多条路径构建知识体系，并以企业级权限与治理能力保障安全使用。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4" name="picture 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5760" y="5737859"/>
            <a:ext cx="4666488" cy="3657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399288" y="1636776"/>
            <a:ext cx="3368040" cy="2654807"/>
            <a:chOff x="0" y="0"/>
            <a:chExt cx="3368040" cy="2654807"/>
          </a:xfrm>
        </p:grpSpPr>
        <p:sp>
          <p:nvSpPr>
            <p:cNvPr id="148" name="rect 148"/>
            <p:cNvSpPr/>
            <p:nvPr/>
          </p:nvSpPr>
          <p:spPr>
            <a:xfrm>
              <a:off x="0" y="0"/>
              <a:ext cx="3368040" cy="2654807"/>
            </a:xfrm>
            <a:prstGeom prst="rect">
              <a:avLst/>
            </a:prstGeom>
            <a:solidFill>
              <a:srgbClr val="F1F5F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0" name="rect 150"/>
            <p:cNvSpPr/>
            <p:nvPr/>
          </p:nvSpPr>
          <p:spPr>
            <a:xfrm>
              <a:off x="0" y="0"/>
              <a:ext cx="3368040" cy="822960"/>
            </a:xfrm>
            <a:prstGeom prst="rect">
              <a:avLst/>
            </a:pr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2" name="textbox 152"/>
            <p:cNvSpPr/>
            <p:nvPr/>
          </p:nvSpPr>
          <p:spPr>
            <a:xfrm>
              <a:off x="323037" y="169875"/>
              <a:ext cx="2933064" cy="1974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5245" algn="l" rtl="0" eaLnBrk="0">
                <a:lnSpc>
                  <a:spcPct val="89000"/>
                </a:lnSpc>
              </a:pPr>
              <a:r>
                <a:rPr sz="12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路径二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03200" algn="l" rtl="0" eaLnBrk="0">
                <a:lnSpc>
                  <a:spcPct val="94000"/>
                </a:lnSpc>
                <a:spcBef>
                  <a:spcPts val="1065"/>
                </a:spcBef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沉淀生长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7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3975" algn="l" rtl="0" eaLnBrk="0">
                <a:lnSpc>
                  <a:spcPct val="96000"/>
                </a:lnSpc>
                <a:spcBef>
                  <a:spcPts val="365"/>
                </a:spcBef>
              </a:pPr>
              <a:r>
                <a:rPr sz="1200" b="1" kern="0" spc="90" dirty="0">
                  <a:solidFill>
                    <a:srgbClr val="8B5CF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从记忆中生长知识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360"/>
                </a:spcBef>
              </a:pP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1200" kern="0" spc="13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系统自动识别高价值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个人记忆并推荐晋升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880"/>
                </a:spcBef>
              </a:pP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由人工判断是否</a:t>
              </a: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纳入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5"/>
                </a:spcBef>
              </a:pP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1200" kern="0" spc="18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既不漏关键信息，也不引入低质量内容。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4" name="textbox 154"/>
          <p:cNvSpPr/>
          <p:nvPr/>
        </p:nvSpPr>
        <p:spPr>
          <a:xfrm>
            <a:off x="370323" y="737063"/>
            <a:ext cx="7085965" cy="715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120" dirty="0">
                <a:solidFill>
                  <a:srgbClr val="2865E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技术特性</a:t>
            </a:r>
            <a:r>
              <a:rPr sz="2700" b="1" kern="0" spc="260" dirty="0">
                <a:solidFill>
                  <a:srgbClr val="2865E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120" dirty="0">
                <a:solidFill>
                  <a:srgbClr val="2865E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2700" b="1" kern="0" spc="120" dirty="0">
                <a:solidFill>
                  <a:srgbClr val="2865E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知识管理：三</a:t>
            </a:r>
            <a:r>
              <a:rPr sz="2700" b="1" kern="0" spc="110" dirty="0">
                <a:solidFill>
                  <a:srgbClr val="2865E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条路径构建知识体系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96000"/>
              </a:lnSpc>
              <a:spcBef>
                <a:spcPts val="5"/>
              </a:spcBef>
            </a:pPr>
            <a:r>
              <a:rPr sz="1200" kern="0" spc="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</a:t>
            </a:r>
            <a:r>
              <a:rPr sz="1200" kern="0" spc="9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9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通过多条路径构建知识体系，并以企业级权限与治理能力保障安全使用。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path 156"/>
          <p:cNvSpPr/>
          <p:nvPr/>
        </p:nvSpPr>
        <p:spPr>
          <a:xfrm>
            <a:off x="8488680" y="3435095"/>
            <a:ext cx="891540" cy="309372"/>
          </a:xfrm>
          <a:custGeom>
            <a:avLst/>
            <a:gdLst/>
            <a:ahLst/>
            <a:cxnLst/>
            <a:rect l="0" t="0" r="0" b="0"/>
            <a:pathLst>
              <a:path w="1404" h="487">
                <a:moveTo>
                  <a:pt x="0" y="247"/>
                </a:moveTo>
                <a:lnTo>
                  <a:pt x="1012" y="247"/>
                </a:lnTo>
                <a:lnTo>
                  <a:pt x="1012" y="0"/>
                </a:lnTo>
                <a:lnTo>
                  <a:pt x="0" y="0"/>
                </a:lnTo>
                <a:lnTo>
                  <a:pt x="0" y="247"/>
                </a:lnTo>
                <a:close/>
              </a:path>
              <a:path w="1404" h="487">
                <a:moveTo>
                  <a:pt x="391" y="487"/>
                </a:moveTo>
                <a:lnTo>
                  <a:pt x="1404" y="487"/>
                </a:lnTo>
                <a:lnTo>
                  <a:pt x="1404" y="240"/>
                </a:lnTo>
                <a:lnTo>
                  <a:pt x="391" y="240"/>
                </a:lnTo>
                <a:lnTo>
                  <a:pt x="391" y="487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" name="rect 158"/>
          <p:cNvSpPr/>
          <p:nvPr/>
        </p:nvSpPr>
        <p:spPr>
          <a:xfrm>
            <a:off x="8336280" y="2964180"/>
            <a:ext cx="643128" cy="318515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64408" y="1405126"/>
            <a:ext cx="5164835" cy="5407150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804147" y="1588008"/>
            <a:ext cx="3236976" cy="5137403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21600000">
            <a:off x="478536" y="1994915"/>
            <a:ext cx="2462784" cy="3887723"/>
            <a:chOff x="0" y="0"/>
            <a:chExt cx="2462784" cy="3887723"/>
          </a:xfrm>
        </p:grpSpPr>
        <p:sp>
          <p:nvSpPr>
            <p:cNvPr id="166" name="rect 166"/>
            <p:cNvSpPr/>
            <p:nvPr/>
          </p:nvSpPr>
          <p:spPr>
            <a:xfrm>
              <a:off x="0" y="0"/>
              <a:ext cx="2462784" cy="3887723"/>
            </a:xfrm>
            <a:prstGeom prst="rect">
              <a:avLst/>
            </a:prstGeom>
            <a:solidFill>
              <a:srgbClr val="F1F5F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8" name="rect 168"/>
            <p:cNvSpPr/>
            <p:nvPr/>
          </p:nvSpPr>
          <p:spPr>
            <a:xfrm>
              <a:off x="0" y="0"/>
              <a:ext cx="2462784" cy="1141476"/>
            </a:xfrm>
            <a:prstGeom prst="rect">
              <a:avLst/>
            </a:prstGeom>
            <a:solidFill>
              <a:srgbClr val="3B82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" name="textbox 170"/>
            <p:cNvSpPr/>
            <p:nvPr/>
          </p:nvSpPr>
          <p:spPr>
            <a:xfrm>
              <a:off x="138328" y="267411"/>
              <a:ext cx="2141220" cy="31267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3820" algn="l" rtl="0" eaLnBrk="0">
                <a:lnSpc>
                  <a:spcPct val="89000"/>
                </a:lnSpc>
              </a:pPr>
              <a:r>
                <a:rPr sz="12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路径三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82550" indent="2540" algn="l" rtl="0" eaLnBrk="0">
                <a:lnSpc>
                  <a:spcPct val="105000"/>
                </a:lnSpc>
                <a:spcBef>
                  <a:spcPts val="1330"/>
                </a:spcBef>
              </a:pPr>
              <a:r>
                <a:rPr sz="1500" b="1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智能归纳评审，提升入</a:t>
              </a: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库治理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5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3185" algn="l" rtl="0" eaLnBrk="0">
                <a:lnSpc>
                  <a:spcPct val="96000"/>
                </a:lnSpc>
                <a:spcBef>
                  <a:spcPts val="365"/>
                </a:spcBef>
              </a:pPr>
              <a:r>
                <a:rPr sz="1200" b="1" kern="0" spc="90" dirty="0">
                  <a:solidFill>
                    <a:srgbClr val="3B82F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过程性文档归纳后晋升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5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9070" indent="-166370" algn="l" rtl="0" eaLnBrk="0">
                <a:lnSpc>
                  <a:spcPct val="124000"/>
                </a:lnSpc>
                <a:spcBef>
                  <a:spcPts val="365"/>
                </a:spcBef>
              </a:pP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1200" kern="0" spc="15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对会议听记、聊天记录、周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报等过程性噪音多的文档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9070" indent="-167005" algn="l" rtl="0" eaLnBrk="0">
                <a:lnSpc>
                  <a:spcPct val="121000"/>
                </a:lnSpc>
                <a:spcBef>
                  <a:spcPts val="765"/>
                </a:spcBef>
              </a:pP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1200" kern="0" spc="16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先做信息整理提炼可信结论，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支持人工指定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topi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晋升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4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6530" indent="-164465" algn="l" rtl="0" eaLnBrk="0">
                <a:lnSpc>
                  <a:spcPct val="124000"/>
                </a:lnSpc>
                <a:spcBef>
                  <a:spcPts val="5"/>
                </a:spcBef>
              </a:pP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1200" kern="0" spc="16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再由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AI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或人工决策是否补入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知识库。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72" name="textbox 172"/>
          <p:cNvSpPr/>
          <p:nvPr/>
        </p:nvSpPr>
        <p:spPr>
          <a:xfrm>
            <a:off x="494076" y="725046"/>
            <a:ext cx="7085330" cy="598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120" dirty="0">
                <a:solidFill>
                  <a:srgbClr val="2865E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技术特性</a:t>
            </a:r>
            <a:r>
              <a:rPr sz="2700" b="1" kern="0" spc="250" dirty="0">
                <a:solidFill>
                  <a:srgbClr val="2865E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120" dirty="0">
                <a:solidFill>
                  <a:srgbClr val="2865E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2700" b="1" kern="0" spc="120" dirty="0">
                <a:solidFill>
                  <a:srgbClr val="2865E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知识管理：三</a:t>
            </a:r>
            <a:r>
              <a:rPr sz="2700" b="1" kern="0" spc="110" dirty="0">
                <a:solidFill>
                  <a:srgbClr val="2865E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条路径构建知识体系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" algn="l" rtl="0" eaLnBrk="0">
              <a:lnSpc>
                <a:spcPct val="96000"/>
              </a:lnSpc>
              <a:spcBef>
                <a:spcPts val="155"/>
              </a:spcBef>
            </a:pPr>
            <a:r>
              <a:rPr sz="1200" kern="0" spc="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</a:t>
            </a:r>
            <a:r>
              <a:rPr sz="1200" kern="0" spc="90" dirty="0">
                <a:solidFill>
                  <a:srgbClr val="6474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90" dirty="0">
                <a:solidFill>
                  <a:srgbClr val="64748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通过多条路径构建知识体系，并以企业级权限与治理能力保障安全使用。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5780" y="1560576"/>
            <a:ext cx="10140696" cy="5178549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536153" y="721823"/>
            <a:ext cx="3930650" cy="765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92000"/>
              </a:lnSpc>
            </a:pPr>
            <a:r>
              <a:rPr sz="2700" b="1" kern="0" spc="4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快速接入：</a:t>
            </a:r>
            <a:r>
              <a:rPr sz="2700" b="1" kern="0" spc="-2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4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一条命令上线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200" kern="0" spc="10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各类主流</a:t>
            </a:r>
            <a:r>
              <a:rPr sz="12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1200" kern="0" spc="10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10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一条命令</a:t>
            </a:r>
            <a:r>
              <a:rPr sz="1200" kern="0" spc="10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1200" kern="0" spc="100" dirty="0">
                <a:solidFill>
                  <a:srgbClr val="66666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自然语言接入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182" name="textbox 182"/>
          <p:cNvSpPr/>
          <p:nvPr/>
        </p:nvSpPr>
        <p:spPr>
          <a:xfrm>
            <a:off x="2005362" y="1903683"/>
            <a:ext cx="1929129" cy="1694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8000"/>
              </a:lnSpc>
            </a:pPr>
            <a:r>
              <a:rPr sz="14000" b="1" kern="0" spc="-300" dirty="0">
                <a:solidFill>
                  <a:srgbClr val="1E29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4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4779543" y="2891987"/>
            <a:ext cx="3131820" cy="971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9000"/>
              </a:lnSpc>
            </a:pPr>
            <a:r>
              <a:rPr sz="2600" b="1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 </a:t>
            </a:r>
            <a:r>
              <a:rPr sz="26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  <a:spcBef>
                <a:spcPts val="5"/>
              </a:spcBef>
            </a:pPr>
            <a:r>
              <a:rPr sz="1200" i="1" kern="0" spc="-10" dirty="0">
                <a:solidFill>
                  <a:srgbClr val="D5D5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Customer Scenarios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2191268" y="2799149"/>
            <a:ext cx="841375" cy="740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8000"/>
              </a:lnSpc>
            </a:pPr>
            <a:r>
              <a:rPr sz="6000" b="1" kern="0" spc="-140" dirty="0">
                <a:solidFill>
                  <a:srgbClr val="0055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6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8" name="path 188"/>
          <p:cNvSpPr/>
          <p:nvPr/>
        </p:nvSpPr>
        <p:spPr>
          <a:xfrm>
            <a:off x="4434840" y="2845308"/>
            <a:ext cx="36576" cy="1600200"/>
          </a:xfrm>
          <a:custGeom>
            <a:avLst/>
            <a:gdLst/>
            <a:ahLst/>
            <a:cxnLst/>
            <a:rect l="0" t="0" r="0" b="0"/>
            <a:pathLst>
              <a:path w="57" h="2520">
                <a:moveTo>
                  <a:pt x="0" y="2520"/>
                </a:moveTo>
                <a:lnTo>
                  <a:pt x="57" y="2520"/>
                </a:lnTo>
                <a:lnTo>
                  <a:pt x="57" y="0"/>
                </a:lnTo>
                <a:lnTo>
                  <a:pt x="0" y="0"/>
                </a:lnTo>
                <a:lnTo>
                  <a:pt x="0" y="2520"/>
                </a:lnTo>
                <a:close/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1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graphicFrame>
        <p:nvGraphicFramePr>
          <p:cNvPr id="192" name="table 192"/>
          <p:cNvGraphicFramePr>
            <a:graphicFrameLocks noGrp="1"/>
          </p:cNvGraphicFramePr>
          <p:nvPr/>
        </p:nvGraphicFramePr>
        <p:xfrm>
          <a:off x="560705" y="1994789"/>
          <a:ext cx="3526790" cy="3453129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71805"/>
                <a:gridCol w="3054985"/>
              </a:tblGrid>
              <a:tr h="6127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62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15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Agent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之间记忆隔离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" algn="l" rtl="0" eaLnBrk="0">
                        <a:lnSpc>
                          <a:spcPct val="89000"/>
                        </a:lnSpc>
                        <a:spcBef>
                          <a:spcPts val="340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语义相似记忆无法去重，仓库无限膨胀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" algn="l" rtl="0" eaLnBrk="0">
                        <a:lnSpc>
                          <a:spcPct val="89000"/>
                        </a:lnSpc>
                        <a:spcBef>
                          <a:spcPts val="340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缺少多级权限模型，敏感信息无法分级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召回质量随数据量增长明显退化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" name="textbox 194"/>
          <p:cNvSpPr/>
          <p:nvPr/>
        </p:nvSpPr>
        <p:spPr>
          <a:xfrm>
            <a:off x="4254500" y="1985264"/>
            <a:ext cx="3546475" cy="3472815"/>
          </a:xfrm>
          <a:prstGeom prst="roundRect">
            <a:avLst>
              <a:gd name="adj" fmla="val 3177"/>
            </a:avLst>
          </a:prstGeom>
          <a:noFill/>
          <a:ln w="6350" cap="flat">
            <a:solidFill>
              <a:srgbClr val="E2E8F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37640" algn="l" rtl="0" eaLnBrk="0">
              <a:lnSpc>
                <a:spcPct val="89000"/>
              </a:lnSpc>
              <a:spcBef>
                <a:spcPts val="5"/>
              </a:spcBef>
            </a:pPr>
            <a:r>
              <a:rPr sz="1200" b="1" kern="0" spc="-1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架构示意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96" name="table 196"/>
          <p:cNvGraphicFramePr>
            <a:graphicFrameLocks noGrp="1"/>
          </p:cNvGraphicFramePr>
          <p:nvPr/>
        </p:nvGraphicFramePr>
        <p:xfrm>
          <a:off x="7967344" y="1994789"/>
          <a:ext cx="3526789" cy="3453129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73075"/>
                <a:gridCol w="3053714"/>
              </a:tblGrid>
              <a:tr h="6127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403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67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Mem0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协议兼容，切换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dpoint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零改动迁移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420" indent="1905" algn="l" rtl="0" eaLnBrk="0">
                        <a:lnSpc>
                          <a:spcPct val="88000"/>
                        </a:lnSpc>
                        <a:spcBef>
                          <a:spcPts val="335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Agent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共享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Workspace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按权限打破信息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壁垒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660" algn="l" rtl="0" eaLnBrk="0">
                        <a:lnSpc>
                          <a:spcPct val="89000"/>
                        </a:lnSpc>
                        <a:spcBef>
                          <a:spcPts val="330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自动语义去重与记忆演进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，质量持续可控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42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召回准确率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20.3% → 80.1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LOCOMO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综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1100" kern="0" spc="-2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合）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98" name="picture 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15028" y="2721864"/>
            <a:ext cx="3246119" cy="2054351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622198" y="824106"/>
            <a:ext cx="6676390" cy="63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92000"/>
              </a:lnSpc>
            </a:pPr>
            <a:r>
              <a:rPr sz="2700" b="1" kern="0" spc="11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场景一：从单 </a:t>
            </a:r>
            <a:r>
              <a:rPr sz="2700" b="1" kern="0" spc="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2700" b="1" kern="0" spc="11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11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记忆到多</a:t>
            </a:r>
            <a:r>
              <a:rPr sz="2700" b="1" kern="0" spc="-13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2700" b="1" kern="0" spc="11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11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5"/>
              </a:spcBef>
            </a:pP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迁移路径：已有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Mem0 →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endpoi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nt → ContextDB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r>
              <a:rPr sz="1200" kern="0" spc="3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200" kern="0" spc="-9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</a:t>
            </a:r>
            <a:r>
              <a:rPr sz="1200" kern="0" spc="5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r>
              <a:rPr sz="1200" kern="0" spc="15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自动去重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563880" y="1997964"/>
            <a:ext cx="3521075" cy="503555"/>
          </a:xfrm>
          <a:prstGeom prst="rect">
            <a:avLst/>
          </a:prstGeom>
          <a:solidFill>
            <a:srgbClr val="6666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64895" algn="l" rtl="0" eaLnBrk="0">
              <a:lnSpc>
                <a:spcPct val="89000"/>
              </a:lnSpc>
            </a:pP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自建记忆扩展痛点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7970519" y="1997964"/>
            <a:ext cx="3521075" cy="503555"/>
          </a:xfrm>
          <a:prstGeom prst="rect">
            <a:avLst/>
          </a:pr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59485" algn="l" rtl="0" eaLnBrk="0">
              <a:lnSpc>
                <a:spcPct val="89000"/>
              </a:lnSpc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 Contex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tDB 后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" name="path 206"/>
          <p:cNvSpPr/>
          <p:nvPr/>
        </p:nvSpPr>
        <p:spPr>
          <a:xfrm>
            <a:off x="8199119" y="3963923"/>
            <a:ext cx="182880" cy="182880"/>
          </a:xfrm>
          <a:custGeom>
            <a:avLst/>
            <a:gdLst/>
            <a:ahLst/>
            <a:cxnLst/>
            <a:rect l="0" t="0" r="0" b="0"/>
            <a:pathLst>
              <a:path w="288" h="288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8"/>
                  <a:pt x="144" y="288"/>
                </a:cubicBezTo>
                <a:cubicBezTo>
                  <a:pt x="64" y="288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8" name="path 208"/>
          <p:cNvSpPr/>
          <p:nvPr/>
        </p:nvSpPr>
        <p:spPr>
          <a:xfrm>
            <a:off x="8199119" y="2775204"/>
            <a:ext cx="182880" cy="182879"/>
          </a:xfrm>
          <a:custGeom>
            <a:avLst/>
            <a:gdLst/>
            <a:ahLst/>
            <a:cxnLst/>
            <a:rect l="0" t="0" r="0" b="0"/>
            <a:pathLst>
              <a:path w="288" h="287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7"/>
                  <a:pt x="144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" name="path 210"/>
          <p:cNvSpPr/>
          <p:nvPr/>
        </p:nvSpPr>
        <p:spPr>
          <a:xfrm>
            <a:off x="8199119" y="3369564"/>
            <a:ext cx="182880" cy="182879"/>
          </a:xfrm>
          <a:custGeom>
            <a:avLst/>
            <a:gdLst/>
            <a:ahLst/>
            <a:cxnLst/>
            <a:rect l="0" t="0" r="0" b="0"/>
            <a:pathLst>
              <a:path w="288" h="287">
                <a:moveTo>
                  <a:pt x="0" y="144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4"/>
                </a:cubicBezTo>
                <a:cubicBezTo>
                  <a:pt x="288" y="223"/>
                  <a:pt x="223" y="287"/>
                  <a:pt x="144" y="287"/>
                </a:cubicBezTo>
                <a:cubicBezTo>
                  <a:pt x="64" y="287"/>
                  <a:pt x="0" y="223"/>
                  <a:pt x="0" y="144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path 212"/>
          <p:cNvSpPr/>
          <p:nvPr/>
        </p:nvSpPr>
        <p:spPr>
          <a:xfrm>
            <a:off x="8199119" y="4558283"/>
            <a:ext cx="182880" cy="182879"/>
          </a:xfrm>
          <a:custGeom>
            <a:avLst/>
            <a:gdLst/>
            <a:ahLst/>
            <a:cxnLst/>
            <a:rect l="0" t="0" r="0" b="0"/>
            <a:pathLst>
              <a:path w="288" h="287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7"/>
                  <a:pt x="144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4" name="path 214"/>
          <p:cNvSpPr/>
          <p:nvPr/>
        </p:nvSpPr>
        <p:spPr>
          <a:xfrm>
            <a:off x="792480" y="3963923"/>
            <a:ext cx="182880" cy="182880"/>
          </a:xfrm>
          <a:custGeom>
            <a:avLst/>
            <a:gdLst/>
            <a:ahLst/>
            <a:cxnLst/>
            <a:rect l="0" t="0" r="0" b="0"/>
            <a:pathLst>
              <a:path w="288" h="288">
                <a:moveTo>
                  <a:pt x="0" y="143"/>
                </a:moveTo>
                <a:cubicBezTo>
                  <a:pt x="0" y="64"/>
                  <a:pt x="64" y="0"/>
                  <a:pt x="143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8"/>
                  <a:pt x="143" y="288"/>
                </a:cubicBezTo>
                <a:cubicBezTo>
                  <a:pt x="64" y="288"/>
                  <a:pt x="0" y="223"/>
                  <a:pt x="0" y="143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path 216"/>
          <p:cNvSpPr/>
          <p:nvPr/>
        </p:nvSpPr>
        <p:spPr>
          <a:xfrm>
            <a:off x="792480" y="2775204"/>
            <a:ext cx="182880" cy="182879"/>
          </a:xfrm>
          <a:custGeom>
            <a:avLst/>
            <a:gdLst/>
            <a:ahLst/>
            <a:cxnLst/>
            <a:rect l="0" t="0" r="0" b="0"/>
            <a:pathLst>
              <a:path w="288" h="287">
                <a:moveTo>
                  <a:pt x="0" y="143"/>
                </a:moveTo>
                <a:cubicBezTo>
                  <a:pt x="0" y="64"/>
                  <a:pt x="64" y="0"/>
                  <a:pt x="143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7"/>
                  <a:pt x="143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" name="path 218"/>
          <p:cNvSpPr/>
          <p:nvPr/>
        </p:nvSpPr>
        <p:spPr>
          <a:xfrm>
            <a:off x="792480" y="3369564"/>
            <a:ext cx="182880" cy="182879"/>
          </a:xfrm>
          <a:custGeom>
            <a:avLst/>
            <a:gdLst/>
            <a:ahLst/>
            <a:cxnLst/>
            <a:rect l="0" t="0" r="0" b="0"/>
            <a:pathLst>
              <a:path w="288" h="287">
                <a:moveTo>
                  <a:pt x="0" y="144"/>
                </a:moveTo>
                <a:cubicBezTo>
                  <a:pt x="0" y="64"/>
                  <a:pt x="64" y="0"/>
                  <a:pt x="143" y="0"/>
                </a:cubicBezTo>
                <a:cubicBezTo>
                  <a:pt x="223" y="0"/>
                  <a:pt x="288" y="64"/>
                  <a:pt x="288" y="144"/>
                </a:cubicBezTo>
                <a:cubicBezTo>
                  <a:pt x="288" y="223"/>
                  <a:pt x="223" y="287"/>
                  <a:pt x="143" y="287"/>
                </a:cubicBezTo>
                <a:cubicBezTo>
                  <a:pt x="64" y="287"/>
                  <a:pt x="0" y="223"/>
                  <a:pt x="0" y="144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" name="path 220"/>
          <p:cNvSpPr/>
          <p:nvPr/>
        </p:nvSpPr>
        <p:spPr>
          <a:xfrm>
            <a:off x="792480" y="4558283"/>
            <a:ext cx="182880" cy="182879"/>
          </a:xfrm>
          <a:custGeom>
            <a:avLst/>
            <a:gdLst/>
            <a:ahLst/>
            <a:cxnLst/>
            <a:rect l="0" t="0" r="0" b="0"/>
            <a:pathLst>
              <a:path w="288" h="287">
                <a:moveTo>
                  <a:pt x="0" y="143"/>
                </a:moveTo>
                <a:cubicBezTo>
                  <a:pt x="0" y="64"/>
                  <a:pt x="64" y="0"/>
                  <a:pt x="143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7"/>
                  <a:pt x="143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" name="textbox 222"/>
          <p:cNvSpPr/>
          <p:nvPr/>
        </p:nvSpPr>
        <p:spPr>
          <a:xfrm>
            <a:off x="826237" y="2795325"/>
            <a:ext cx="1333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826237" y="3389685"/>
            <a:ext cx="1333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826237" y="3984299"/>
            <a:ext cx="1333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826237" y="4578659"/>
            <a:ext cx="1333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8235360" y="2795325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8235360" y="3389685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8235360" y="3984299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8235360" y="4578659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606552" y="1231391"/>
            <a:ext cx="7309484" cy="2486025"/>
          </a:xfrm>
          <a:prstGeom prst="roundRect">
            <a:avLst>
              <a:gd name="adj" fmla="val 3246"/>
            </a:avLst>
          </a:prstGeom>
          <a:solidFill>
            <a:srgbClr val="FFFFFF">
              <a:alpha val="100000"/>
            </a:srgbClr>
          </a:solidFill>
          <a:ln w="6350" cap="flat">
            <a:solidFill>
              <a:srgbClr val="E2E8F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18435" algn="l" rtl="0" eaLnBrk="0">
              <a:lnSpc>
                <a:spcPct val="89000"/>
              </a:lnSpc>
            </a:pPr>
            <a:r>
              <a:rPr sz="1400" b="1" kern="0" spc="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构建企业业务知识库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2" name="picture 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16863" y="1434083"/>
            <a:ext cx="6629400" cy="2279904"/>
          </a:xfrm>
          <a:prstGeom prst="rect">
            <a:avLst/>
          </a:prstGeom>
        </p:spPr>
      </p:pic>
      <p:graphicFrame>
        <p:nvGraphicFramePr>
          <p:cNvPr id="244" name="table 244"/>
          <p:cNvGraphicFramePr>
            <a:graphicFrameLocks noGrp="1"/>
          </p:cNvGraphicFramePr>
          <p:nvPr/>
        </p:nvGraphicFramePr>
        <p:xfrm>
          <a:off x="8211184" y="3541649"/>
          <a:ext cx="3526790" cy="288607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48944"/>
                <a:gridCol w="3077845"/>
              </a:tblGrid>
              <a:tr h="46545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991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导入式启动：存量文档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/Oncall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经验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/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地知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识通过配置导入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" algn="l" rtl="0" eaLnBrk="0">
                        <a:lnSpc>
                          <a:spcPct val="95000"/>
                        </a:lnSpc>
                        <a:spcBef>
                          <a:spcPts val="340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运行期沉淀：记忆提炼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→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识晋升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→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企业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共享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" algn="l" rtl="0" eaLnBrk="0">
                        <a:lnSpc>
                          <a:spcPct val="89000"/>
                        </a:lnSpc>
                        <a:spcBef>
                          <a:spcPts val="335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持续迭代：踩坑积累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/Review/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自进化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闭环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420" indent="-63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效果：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Agent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输出从「通用正确」升级为「业务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适配」，企业经验沉淀，越用越懂业务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4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6" name="textbox 246"/>
          <p:cNvSpPr/>
          <p:nvPr/>
        </p:nvSpPr>
        <p:spPr>
          <a:xfrm>
            <a:off x="597408" y="3784092"/>
            <a:ext cx="3586479" cy="2443479"/>
          </a:xfrm>
          <a:prstGeom prst="roundRect">
            <a:avLst>
              <a:gd name="adj" fmla="val 3251"/>
            </a:avLst>
          </a:prstGeom>
          <a:solidFill>
            <a:srgbClr val="FFFFFF">
              <a:alpha val="100000"/>
            </a:srgbClr>
          </a:solidFill>
          <a:ln w="6350" cap="flat">
            <a:solidFill>
              <a:srgbClr val="E2E8F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0040" algn="l" rtl="0" eaLnBrk="0">
              <a:lnSpc>
                <a:spcPct val="89000"/>
              </a:lnSpc>
              <a:spcBef>
                <a:spcPts val="5"/>
              </a:spcBef>
            </a:pPr>
            <a:r>
              <a:rPr sz="1400" b="1" kern="0" spc="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知识库配置启动：钉钉文档实时同步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4422140" y="3771392"/>
            <a:ext cx="3480434" cy="2430779"/>
          </a:xfrm>
          <a:prstGeom prst="roundRect">
            <a:avLst>
              <a:gd name="adj" fmla="val 3255"/>
            </a:avLst>
          </a:prstGeom>
          <a:noFill/>
          <a:ln w="6350" cap="flat">
            <a:solidFill>
              <a:srgbClr val="E2E8F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1645" algn="l" rtl="0" eaLnBrk="0">
              <a:lnSpc>
                <a:spcPct val="89000"/>
              </a:lnSpc>
              <a:spcBef>
                <a:spcPts val="5"/>
              </a:spcBef>
            </a:pPr>
            <a:r>
              <a:rPr sz="1400" b="1" kern="0" spc="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知识库持续迭代：团队review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50" name="table 250"/>
          <p:cNvGraphicFramePr>
            <a:graphicFrameLocks noGrp="1"/>
          </p:cNvGraphicFramePr>
          <p:nvPr/>
        </p:nvGraphicFramePr>
        <p:xfrm>
          <a:off x="8211184" y="1143000"/>
          <a:ext cx="3526790" cy="214249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526790"/>
              </a:tblGrid>
              <a:tr h="438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48765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痛点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6666"/>
                    </a:solidFill>
                  </a:tcPr>
                </a:tc>
              </a:tr>
              <a:tr h="17037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2" name="picture 2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62584" y="4149852"/>
            <a:ext cx="3163824" cy="2033016"/>
          </a:xfrm>
          <a:prstGeom prst="rect">
            <a:avLst/>
          </a:prstGeom>
        </p:spPr>
      </p:pic>
      <p:sp>
        <p:nvSpPr>
          <p:cNvPr id="254" name="path 254"/>
          <p:cNvSpPr/>
          <p:nvPr/>
        </p:nvSpPr>
        <p:spPr>
          <a:xfrm>
            <a:off x="8356092" y="2164079"/>
            <a:ext cx="214883" cy="182879"/>
          </a:xfrm>
          <a:custGeom>
            <a:avLst/>
            <a:gdLst/>
            <a:ahLst/>
            <a:cxnLst/>
            <a:rect l="0" t="0" r="0" b="0"/>
            <a:pathLst>
              <a:path w="338" h="287">
                <a:moveTo>
                  <a:pt x="0" y="144"/>
                </a:moveTo>
                <a:cubicBezTo>
                  <a:pt x="0" y="64"/>
                  <a:pt x="75" y="0"/>
                  <a:pt x="169" y="0"/>
                </a:cubicBezTo>
                <a:cubicBezTo>
                  <a:pt x="262" y="0"/>
                  <a:pt x="338" y="64"/>
                  <a:pt x="338" y="144"/>
                </a:cubicBezTo>
                <a:cubicBezTo>
                  <a:pt x="338" y="223"/>
                  <a:pt x="262" y="287"/>
                  <a:pt x="169" y="287"/>
                </a:cubicBezTo>
                <a:cubicBezTo>
                  <a:pt x="75" y="287"/>
                  <a:pt x="0" y="223"/>
                  <a:pt x="0" y="144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6" name="path 256"/>
          <p:cNvSpPr/>
          <p:nvPr/>
        </p:nvSpPr>
        <p:spPr>
          <a:xfrm>
            <a:off x="8356092" y="2545079"/>
            <a:ext cx="214883" cy="182879"/>
          </a:xfrm>
          <a:custGeom>
            <a:avLst/>
            <a:gdLst/>
            <a:ahLst/>
            <a:cxnLst/>
            <a:rect l="0" t="0" r="0" b="0"/>
            <a:pathLst>
              <a:path w="338" h="287">
                <a:moveTo>
                  <a:pt x="0" y="144"/>
                </a:moveTo>
                <a:cubicBezTo>
                  <a:pt x="0" y="64"/>
                  <a:pt x="75" y="0"/>
                  <a:pt x="169" y="0"/>
                </a:cubicBezTo>
                <a:cubicBezTo>
                  <a:pt x="262" y="0"/>
                  <a:pt x="338" y="64"/>
                  <a:pt x="338" y="144"/>
                </a:cubicBezTo>
                <a:cubicBezTo>
                  <a:pt x="338" y="223"/>
                  <a:pt x="262" y="287"/>
                  <a:pt x="169" y="287"/>
                </a:cubicBezTo>
                <a:cubicBezTo>
                  <a:pt x="75" y="287"/>
                  <a:pt x="0" y="223"/>
                  <a:pt x="0" y="144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8" name="path 258"/>
          <p:cNvSpPr/>
          <p:nvPr/>
        </p:nvSpPr>
        <p:spPr>
          <a:xfrm>
            <a:off x="8356092" y="1783079"/>
            <a:ext cx="214883" cy="182879"/>
          </a:xfrm>
          <a:custGeom>
            <a:avLst/>
            <a:gdLst/>
            <a:ahLst/>
            <a:cxnLst/>
            <a:rect l="0" t="0" r="0" b="0"/>
            <a:pathLst>
              <a:path w="338" h="287">
                <a:moveTo>
                  <a:pt x="0" y="144"/>
                </a:moveTo>
                <a:cubicBezTo>
                  <a:pt x="0" y="64"/>
                  <a:pt x="75" y="0"/>
                  <a:pt x="169" y="0"/>
                </a:cubicBezTo>
                <a:cubicBezTo>
                  <a:pt x="262" y="0"/>
                  <a:pt x="338" y="64"/>
                  <a:pt x="338" y="144"/>
                </a:cubicBezTo>
                <a:cubicBezTo>
                  <a:pt x="338" y="223"/>
                  <a:pt x="262" y="287"/>
                  <a:pt x="169" y="287"/>
                </a:cubicBezTo>
                <a:cubicBezTo>
                  <a:pt x="75" y="287"/>
                  <a:pt x="0" y="223"/>
                  <a:pt x="0" y="144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0" name="path 260"/>
          <p:cNvSpPr/>
          <p:nvPr/>
        </p:nvSpPr>
        <p:spPr>
          <a:xfrm>
            <a:off x="8356092" y="2941320"/>
            <a:ext cx="214883" cy="182879"/>
          </a:xfrm>
          <a:custGeom>
            <a:avLst/>
            <a:gdLst/>
            <a:ahLst/>
            <a:cxnLst/>
            <a:rect l="0" t="0" r="0" b="0"/>
            <a:pathLst>
              <a:path w="338" h="287">
                <a:moveTo>
                  <a:pt x="0" y="143"/>
                </a:moveTo>
                <a:cubicBezTo>
                  <a:pt x="0" y="64"/>
                  <a:pt x="75" y="0"/>
                  <a:pt x="169" y="0"/>
                </a:cubicBezTo>
                <a:cubicBezTo>
                  <a:pt x="262" y="0"/>
                  <a:pt x="338" y="64"/>
                  <a:pt x="338" y="143"/>
                </a:cubicBezTo>
                <a:cubicBezTo>
                  <a:pt x="338" y="223"/>
                  <a:pt x="262" y="287"/>
                  <a:pt x="169" y="287"/>
                </a:cubicBezTo>
                <a:cubicBezTo>
                  <a:pt x="75" y="287"/>
                  <a:pt x="0" y="223"/>
                  <a:pt x="0" y="143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2" name="textbox 262"/>
          <p:cNvSpPr/>
          <p:nvPr/>
        </p:nvSpPr>
        <p:spPr>
          <a:xfrm>
            <a:off x="8407197" y="1782388"/>
            <a:ext cx="3310254" cy="1336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500" b="1" kern="0" spc="0" baseline="-700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r>
              <a:rPr sz="900" kern="0" spc="3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 </a:t>
            </a:r>
            <a:r>
              <a:rPr sz="1100" kern="0" spc="0" dirty="0">
                <a:solidFill>
                  <a:srgbClr val="18181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sz="1100" kern="0" spc="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不了解业务背景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，不熟悉内部模型与历史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231000"/>
              </a:lnSpc>
              <a:spcBef>
                <a:spcPts val="25"/>
              </a:spcBef>
            </a:pPr>
            <a:r>
              <a:rPr sz="900" b="1" kern="0" spc="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r>
              <a:rPr sz="900" kern="0" spc="43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 </a:t>
            </a:r>
            <a:r>
              <a:rPr sz="1100" kern="0" spc="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员工每次手动贴上下文，否则输出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与规范冲突</a:t>
            </a:r>
            <a:r>
              <a:rPr sz="1100" kern="0" spc="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500" b="1" kern="0" spc="-10" baseline="-700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 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同类问题反复出现，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踩坑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B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继续踩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1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500" b="1" kern="0" spc="0" baseline="-300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r>
              <a:rPr sz="900" kern="0" spc="3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 </a:t>
            </a:r>
            <a:r>
              <a:rPr sz="1100" kern="0" spc="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知识靠人维护：建费劲、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建完没人更新、半年过时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597408" y="6272783"/>
            <a:ext cx="7318375" cy="480694"/>
          </a:xfrm>
          <a:prstGeom prst="rect">
            <a:avLst/>
          </a:prstGeom>
          <a:solidFill>
            <a:srgbClr val="E8DF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3830" algn="l" rtl="0" eaLnBrk="0">
              <a:lnSpc>
                <a:spcPct val="98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知识库不是"一次性写</a:t>
            </a:r>
            <a:r>
              <a:rPr sz="900" kern="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完"的项目，而是持续沉淀的过程，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涉及到启动和迭代两个问题。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3830" algn="l" rtl="0" eaLnBrk="0">
              <a:lnSpc>
                <a:spcPct val="98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知识库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确定性的、经过验证的、团队共享的</a:t>
            </a:r>
            <a:r>
              <a:rPr sz="900" kern="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事实；记忆</a:t>
            </a:r>
            <a:r>
              <a:rPr sz="900" kern="0" spc="2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概率性、从经验中积累、可升级为知识的上下文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6" name="picture 2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44567" y="4573523"/>
            <a:ext cx="3134867" cy="1075944"/>
          </a:xfrm>
          <a:prstGeom prst="rect">
            <a:avLst/>
          </a:prstGeom>
        </p:spPr>
      </p:pic>
      <p:sp>
        <p:nvSpPr>
          <p:cNvPr id="268" name="textbox 268"/>
          <p:cNvSpPr/>
          <p:nvPr/>
        </p:nvSpPr>
        <p:spPr>
          <a:xfrm>
            <a:off x="624379" y="639321"/>
            <a:ext cx="4637404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8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场景二：</a:t>
            </a:r>
            <a:r>
              <a:rPr sz="2700" b="1" kern="0" spc="-65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构建企业业务知识库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8214359" y="3544823"/>
            <a:ext cx="3521075" cy="368934"/>
          </a:xfrm>
          <a:prstGeom prst="rect">
            <a:avLst/>
          </a:pr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0895" algn="l" rtl="0" eaLnBrk="0">
              <a:lnSpc>
                <a:spcPct val="89000"/>
              </a:lnSpc>
              <a:spcBef>
                <a:spcPts val="5"/>
              </a:spcBef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ContextDB 解法与效果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610463" y="1024585"/>
            <a:ext cx="4021454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沉淀企业知识库 ，发掘企业知识价值，支撑企业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时代转型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" name="path 274"/>
          <p:cNvSpPr/>
          <p:nvPr/>
        </p:nvSpPr>
        <p:spPr>
          <a:xfrm>
            <a:off x="8418576" y="5274564"/>
            <a:ext cx="182880" cy="182880"/>
          </a:xfrm>
          <a:custGeom>
            <a:avLst/>
            <a:gdLst/>
            <a:ahLst/>
            <a:cxnLst/>
            <a:rect l="0" t="0" r="0" b="0"/>
            <a:pathLst>
              <a:path w="288" h="288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8"/>
                  <a:pt x="144" y="288"/>
                </a:cubicBezTo>
                <a:cubicBezTo>
                  <a:pt x="64" y="288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6" name="path 276"/>
          <p:cNvSpPr/>
          <p:nvPr/>
        </p:nvSpPr>
        <p:spPr>
          <a:xfrm>
            <a:off x="8418576" y="4162044"/>
            <a:ext cx="182880" cy="182879"/>
          </a:xfrm>
          <a:custGeom>
            <a:avLst/>
            <a:gdLst/>
            <a:ahLst/>
            <a:cxnLst/>
            <a:rect l="0" t="0" r="0" b="0"/>
            <a:pathLst>
              <a:path w="288" h="287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7"/>
                  <a:pt x="144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8" name="path 278"/>
          <p:cNvSpPr/>
          <p:nvPr/>
        </p:nvSpPr>
        <p:spPr>
          <a:xfrm>
            <a:off x="8418576" y="4756404"/>
            <a:ext cx="182880" cy="182879"/>
          </a:xfrm>
          <a:custGeom>
            <a:avLst/>
            <a:gdLst/>
            <a:ahLst/>
            <a:cxnLst/>
            <a:rect l="0" t="0" r="0" b="0"/>
            <a:pathLst>
              <a:path w="288" h="287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7"/>
                  <a:pt x="144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" name="path 280"/>
          <p:cNvSpPr/>
          <p:nvPr/>
        </p:nvSpPr>
        <p:spPr>
          <a:xfrm>
            <a:off x="8418576" y="5762244"/>
            <a:ext cx="182880" cy="182879"/>
          </a:xfrm>
          <a:custGeom>
            <a:avLst/>
            <a:gdLst/>
            <a:ahLst/>
            <a:cxnLst/>
            <a:rect l="0" t="0" r="0" b="0"/>
            <a:pathLst>
              <a:path w="288" h="287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7"/>
                  <a:pt x="144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2" name="textbox 282"/>
          <p:cNvSpPr/>
          <p:nvPr/>
        </p:nvSpPr>
        <p:spPr>
          <a:xfrm>
            <a:off x="8455706" y="5325673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8455706" y="5782924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8455706" y="4182419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8455706" y="4777033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graphicFrame>
        <p:nvGraphicFramePr>
          <p:cNvPr id="292" name="table 292"/>
          <p:cNvGraphicFramePr>
            <a:graphicFrameLocks noGrp="1"/>
          </p:cNvGraphicFramePr>
          <p:nvPr/>
        </p:nvGraphicFramePr>
        <p:xfrm>
          <a:off x="5122036" y="1616836"/>
          <a:ext cx="6833235" cy="5240654"/>
        </p:xfrm>
        <a:graphic>
          <a:graphicData uri="http://schemas.openxmlformats.org/drawingml/2006/table">
            <a:tbl>
              <a:tblPr/>
              <a:tblGrid>
                <a:gridCol w="3590925"/>
                <a:gridCol w="3242310"/>
              </a:tblGrid>
              <a:tr h="322579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086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400" b="1" kern="0" spc="0" dirty="0">
                          <a:solidFill>
                            <a:srgbClr val="1E64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02 ContextDB 多模能力 - 识别原始工单图片信息，</a:t>
                      </a:r>
                      <a:r>
                        <a:rPr sz="1400" b="1" kern="0" spc="-10" dirty="0">
                          <a:solidFill>
                            <a:srgbClr val="1E64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提取截图内容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F5FE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F5FE"/>
                    </a:solidFill>
                  </a:tcPr>
                </a:tc>
              </a:tr>
              <a:tr h="2287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E"/>
                    </a:solidFill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397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2605" algn="l" rtl="0" eaLnBrk="0">
                        <a:lnSpc>
                          <a:spcPct val="88000"/>
                        </a:lnSpc>
                        <a:tabLst>
                          <a:tab pos="1998345" algn="l"/>
                        </a:tabLst>
                      </a:pPr>
                      <a:r>
                        <a:rPr sz="1200" b="1" kern="0" spc="0" dirty="0">
                          <a:solidFill>
                            <a:srgbClr val="1E64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b="1" kern="0" spc="0" dirty="0">
                          <a:solidFill>
                            <a:srgbClr val="1E64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04 接到新工单，</a:t>
                      </a:r>
                      <a:r>
                        <a:rPr sz="1200" b="1" kern="0" spc="0" dirty="0">
                          <a:solidFill>
                            <a:srgbClr val="FF64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检索工单运维知识库，</a:t>
                      </a:r>
                      <a:r>
                        <a:rPr sz="1200" b="1" kern="0" spc="-10" dirty="0">
                          <a:solidFill>
                            <a:srgbClr val="FF64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复用历史经验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D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D"/>
                    </a:solidFill>
                  </a:tcPr>
                </a:tc>
              </a:tr>
            </a:tbl>
          </a:graphicData>
        </a:graphic>
      </p:graphicFrame>
      <p:pic>
        <p:nvPicPr>
          <p:cNvPr id="294" name="picture 2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67866" y="4303521"/>
            <a:ext cx="347035" cy="331797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146304" y="1620011"/>
            <a:ext cx="4898390" cy="2607945"/>
          </a:xfrm>
          <a:prstGeom prst="roundRect">
            <a:avLst>
              <a:gd name="adj" fmla="val 3235"/>
            </a:avLst>
          </a:prstGeom>
          <a:solidFill>
            <a:srgbClr val="FFFFFF">
              <a:alpha val="100000"/>
            </a:srgbClr>
          </a:solidFill>
          <a:ln w="6350" cap="flat">
            <a:solidFill>
              <a:srgbClr val="E2E8F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1650" algn="l" rtl="0" eaLnBrk="0">
              <a:lnSpc>
                <a:spcPct val="89000"/>
              </a:lnSpc>
              <a:spcBef>
                <a:spcPts val="5"/>
              </a:spcBef>
            </a:pPr>
            <a:r>
              <a:rPr sz="1400" b="1" kern="0" spc="-1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知识库构建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146304" y="4314444"/>
            <a:ext cx="4907279" cy="2540635"/>
          </a:xfrm>
          <a:prstGeom prst="roundRect">
            <a:avLst>
              <a:gd name="adj" fmla="val 3214"/>
            </a:avLst>
          </a:prstGeom>
          <a:solidFill>
            <a:srgbClr val="E8F5E8">
              <a:alpha val="100000"/>
            </a:srgbClr>
          </a:solidFill>
          <a:ln w="6350" cap="flat">
            <a:solidFill>
              <a:srgbClr val="E2E8F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0040" algn="l" rtl="0" eaLnBrk="0">
              <a:lnSpc>
                <a:spcPct val="89000"/>
              </a:lnSpc>
              <a:spcBef>
                <a:spcPts val="5"/>
              </a:spcBef>
            </a:pPr>
            <a:r>
              <a:rPr sz="1200" b="1" kern="0" spc="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ContextDB知识评审与重写：降低</a:t>
            </a:r>
            <a:r>
              <a:rPr sz="1200" b="1" kern="0" spc="-1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工单噪音，累积高质文档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8495" y="4613147"/>
            <a:ext cx="4898135" cy="2244850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9936" y="2045208"/>
            <a:ext cx="4783835" cy="1905000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07508" y="1972055"/>
            <a:ext cx="3488435" cy="2156460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730997" y="1994915"/>
            <a:ext cx="3162300" cy="2098547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301995" y="4742687"/>
            <a:ext cx="3308604" cy="1926336"/>
          </a:xfrm>
          <a:prstGeom prst="rect">
            <a:avLst/>
          </a:prstGeom>
        </p:spPr>
      </p:pic>
      <p:sp>
        <p:nvSpPr>
          <p:cNvPr id="310" name="textbox 310"/>
          <p:cNvSpPr/>
          <p:nvPr/>
        </p:nvSpPr>
        <p:spPr>
          <a:xfrm>
            <a:off x="146304" y="1144524"/>
            <a:ext cx="11806555" cy="419100"/>
          </a:xfrm>
          <a:prstGeom prst="roundRect">
            <a:avLst>
              <a:gd name="adj" fmla="val 21459"/>
            </a:avLst>
          </a:prstGeom>
          <a:solidFill>
            <a:srgbClr val="FFFCEC">
              <a:alpha val="100000"/>
            </a:srgbClr>
          </a:solidFill>
          <a:ln w="6350" cap="flat">
            <a:solidFill>
              <a:srgbClr val="E2E8F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095" algn="l" rtl="0" eaLnBrk="0">
              <a:lnSpc>
                <a:spcPct val="98000"/>
              </a:lnSpc>
              <a:spcBef>
                <a:spcPts val="0"/>
              </a:spcBef>
              <a:tabLst>
                <a:tab pos="215265" algn="l"/>
              </a:tabLst>
            </a:pPr>
            <a:r>
              <a:rPr sz="900" b="1" kern="0" spc="0" dirty="0">
                <a:solidFill>
                  <a:srgbClr val="21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b="1" kern="0" spc="10" dirty="0">
                <a:solidFill>
                  <a:srgbClr val="21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80" dirty="0">
                <a:solidFill>
                  <a:srgbClr val="21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痛点： </a:t>
            </a:r>
            <a:r>
              <a:rPr sz="900" kern="0" spc="8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人工整理工单截图</a:t>
            </a:r>
            <a:r>
              <a:rPr sz="900" kern="0" spc="-11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8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，历史方案分散未沉淀、难以复用；相似问题反复从零排查，原始文</a:t>
            </a:r>
            <a:r>
              <a:rPr sz="900" kern="0" spc="7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档噪音大、知识沉淀难。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095" algn="l" rtl="0" eaLnBrk="0">
              <a:lnSpc>
                <a:spcPct val="99000"/>
              </a:lnSpc>
              <a:tabLst>
                <a:tab pos="215265" algn="l"/>
              </a:tabLst>
            </a:pPr>
            <a:r>
              <a:rPr sz="900" b="1" kern="0" spc="0" dirty="0">
                <a:solidFill>
                  <a:srgbClr val="21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b="1" kern="0" spc="10" dirty="0">
                <a:solidFill>
                  <a:srgbClr val="21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b="1" kern="0" spc="80" dirty="0">
                <a:solidFill>
                  <a:srgbClr val="21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方案价值：</a:t>
            </a:r>
            <a:r>
              <a:rPr sz="900" b="1" kern="0" spc="130" dirty="0">
                <a:solidFill>
                  <a:srgbClr val="21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kern="0" spc="8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截图多模态识别自动提取关键信息，方案经评审重写固化为高质量知识， 历史工单自动检索匹配—</a:t>
            </a:r>
            <a:r>
              <a:rPr sz="900" kern="0" spc="7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—从人工逐条处理升级为</a:t>
            </a:r>
            <a:r>
              <a:rPr sz="900" kern="0" spc="12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sz="900" kern="0" spc="17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70" dirty="0">
                <a:solidFill>
                  <a:srgbClr val="20211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自动解决。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2" name="picture 3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98356" y="1405246"/>
            <a:ext cx="89809" cy="92845"/>
          </a:xfrm>
          <a:prstGeom prst="rect">
            <a:avLst/>
          </a:prstGeom>
        </p:spPr>
      </p:pic>
      <p:pic>
        <p:nvPicPr>
          <p:cNvPr id="314" name="picture 3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98356" y="1222366"/>
            <a:ext cx="89809" cy="92845"/>
          </a:xfrm>
          <a:prstGeom prst="rect">
            <a:avLst/>
          </a:prstGeom>
        </p:spPr>
      </p:pic>
      <p:pic>
        <p:nvPicPr>
          <p:cNvPr id="316" name="picture 3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727947" y="5079491"/>
            <a:ext cx="3020567" cy="1004316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541775" y="639019"/>
            <a:ext cx="5486400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8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场景三：</a:t>
            </a:r>
            <a:r>
              <a:rPr sz="2700" b="1" kern="0" spc="-66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8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运维知识库</a:t>
            </a:r>
            <a:r>
              <a:rPr sz="2700" b="1" kern="0" spc="8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*</a:t>
            </a:r>
            <a:r>
              <a:rPr sz="2700" b="1" kern="0" spc="8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工单快速处理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61687" y="4220480"/>
            <a:ext cx="142658" cy="774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picture 3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sp>
        <p:nvSpPr>
          <p:cNvPr id="324" name="rect 324"/>
          <p:cNvSpPr/>
          <p:nvPr/>
        </p:nvSpPr>
        <p:spPr>
          <a:xfrm>
            <a:off x="576072" y="1269491"/>
            <a:ext cx="7309104" cy="543306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6" name="picture 3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6384" y="1287779"/>
            <a:ext cx="7028688" cy="5312664"/>
          </a:xfrm>
          <a:prstGeom prst="rect">
            <a:avLst/>
          </a:prstGeom>
        </p:spPr>
      </p:pic>
      <p:sp>
        <p:nvSpPr>
          <p:cNvPr id="328" name="rect 328"/>
          <p:cNvSpPr/>
          <p:nvPr/>
        </p:nvSpPr>
        <p:spPr>
          <a:xfrm>
            <a:off x="8183880" y="4059935"/>
            <a:ext cx="3520439" cy="2642616"/>
          </a:xfrm>
          <a:prstGeom prst="rect">
            <a:avLst/>
          </a:prstGeom>
          <a:solidFill>
            <a:srgbClr val="FFFFFF">
              <a:alpha val="9333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path 330"/>
          <p:cNvSpPr/>
          <p:nvPr/>
        </p:nvSpPr>
        <p:spPr>
          <a:xfrm>
            <a:off x="8343900" y="4707635"/>
            <a:ext cx="182880" cy="182880"/>
          </a:xfrm>
          <a:custGeom>
            <a:avLst/>
            <a:gdLst/>
            <a:ahLst/>
            <a:cxnLst/>
            <a:rect l="0" t="0" r="0" b="0"/>
            <a:pathLst>
              <a:path w="288" h="288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3"/>
                </a:cubicBezTo>
                <a:cubicBezTo>
                  <a:pt x="288" y="223"/>
                  <a:pt x="223" y="288"/>
                  <a:pt x="144" y="288"/>
                </a:cubicBezTo>
                <a:cubicBezTo>
                  <a:pt x="64" y="288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2" name="path 332"/>
          <p:cNvSpPr/>
          <p:nvPr/>
        </p:nvSpPr>
        <p:spPr>
          <a:xfrm>
            <a:off x="8343900" y="5210555"/>
            <a:ext cx="182880" cy="182880"/>
          </a:xfrm>
          <a:custGeom>
            <a:avLst/>
            <a:gdLst/>
            <a:ahLst/>
            <a:cxnLst/>
            <a:rect l="0" t="0" r="0" b="0"/>
            <a:pathLst>
              <a:path w="288" h="288">
                <a:moveTo>
                  <a:pt x="0" y="144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4"/>
                </a:cubicBezTo>
                <a:cubicBezTo>
                  <a:pt x="288" y="223"/>
                  <a:pt x="223" y="288"/>
                  <a:pt x="144" y="288"/>
                </a:cubicBezTo>
                <a:cubicBezTo>
                  <a:pt x="64" y="288"/>
                  <a:pt x="0" y="223"/>
                  <a:pt x="0" y="144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4" name="path 334"/>
          <p:cNvSpPr/>
          <p:nvPr/>
        </p:nvSpPr>
        <p:spPr>
          <a:xfrm>
            <a:off x="8343900" y="6216396"/>
            <a:ext cx="182880" cy="182880"/>
          </a:xfrm>
          <a:custGeom>
            <a:avLst/>
            <a:gdLst/>
            <a:ahLst/>
            <a:cxnLst/>
            <a:rect l="0" t="0" r="0" b="0"/>
            <a:pathLst>
              <a:path w="288" h="288">
                <a:moveTo>
                  <a:pt x="0" y="144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4"/>
                </a:cubicBezTo>
                <a:cubicBezTo>
                  <a:pt x="288" y="223"/>
                  <a:pt x="223" y="288"/>
                  <a:pt x="144" y="288"/>
                </a:cubicBezTo>
                <a:cubicBezTo>
                  <a:pt x="64" y="288"/>
                  <a:pt x="0" y="223"/>
                  <a:pt x="0" y="144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6" name="path 336"/>
          <p:cNvSpPr/>
          <p:nvPr/>
        </p:nvSpPr>
        <p:spPr>
          <a:xfrm>
            <a:off x="8343900" y="5728716"/>
            <a:ext cx="182880" cy="182880"/>
          </a:xfrm>
          <a:custGeom>
            <a:avLst/>
            <a:gdLst/>
            <a:ahLst/>
            <a:cxnLst/>
            <a:rect l="0" t="0" r="0" b="0"/>
            <a:pathLst>
              <a:path w="288" h="288">
                <a:moveTo>
                  <a:pt x="0" y="144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8" y="64"/>
                  <a:pt x="288" y="144"/>
                </a:cubicBezTo>
                <a:cubicBezTo>
                  <a:pt x="288" y="223"/>
                  <a:pt x="223" y="288"/>
                  <a:pt x="144" y="288"/>
                </a:cubicBezTo>
                <a:cubicBezTo>
                  <a:pt x="64" y="288"/>
                  <a:pt x="0" y="223"/>
                  <a:pt x="0" y="144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38" name="table 338"/>
          <p:cNvGraphicFramePr>
            <a:graphicFrameLocks noGrp="1"/>
          </p:cNvGraphicFramePr>
          <p:nvPr/>
        </p:nvGraphicFramePr>
        <p:xfrm>
          <a:off x="8180705" y="4056760"/>
          <a:ext cx="3526155" cy="2658110"/>
        </p:xfrm>
        <a:graphic>
          <a:graphicData uri="http://schemas.openxmlformats.org/drawingml/2006/table">
            <a:tbl>
              <a:tblPr/>
              <a:tblGrid>
                <a:gridCol w="3526154"/>
              </a:tblGrid>
              <a:tr h="511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1469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090" algn="l" rtl="0" eaLnBrk="0">
                        <a:lnSpc>
                          <a:spcPct val="89000"/>
                        </a:lnSpc>
                      </a:pPr>
                      <a:r>
                        <a:rPr sz="1500" b="1" kern="0" spc="-20" baseline="-3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✓</a:t>
                      </a:r>
                      <a:r>
                        <a:rPr sz="900" kern="0" spc="1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  </a:t>
                      </a:r>
                      <a:r>
                        <a:rPr sz="1100" kern="0" spc="-2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围绕主题聚合相关记忆，</a:t>
                      </a:r>
                      <a:r>
                        <a:rPr sz="1100" kern="0" spc="-19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自动生成知识文档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090" algn="l" rtl="0" eaLnBrk="0">
                        <a:lnSpc>
                          <a:spcPct val="89000"/>
                        </a:lnSpc>
                        <a:spcBef>
                          <a:spcPts val="340"/>
                        </a:spcBef>
                      </a:pPr>
                      <a:r>
                        <a:rPr sz="1500" b="1" kern="0" spc="-10" baseline="-3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✓</a:t>
                      </a:r>
                      <a:r>
                        <a:rPr sz="900" kern="0" spc="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审核入库后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Agent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可直接召回项目规范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090" algn="l" rtl="0" eaLnBrk="0">
                        <a:lnSpc>
                          <a:spcPct val="89000"/>
                        </a:lnSpc>
                        <a:spcBef>
                          <a:spcPts val="335"/>
                        </a:spcBef>
                      </a:pPr>
                      <a:r>
                        <a:rPr sz="1500" b="1" kern="0" spc="-10" baseline="-3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✓</a:t>
                      </a:r>
                      <a:r>
                        <a:rPr sz="900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key /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规避废弃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key /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风格一致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9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1645" indent="-24955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500" b="1" kern="0" spc="-10" baseline="-3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✓</a:t>
                      </a:r>
                      <a:r>
                        <a:rPr sz="900" kern="0" spc="1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效果：从「通用猜测」升级为「基于项目知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识的精准输出」，新增开发人员直接站在前     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人经验上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40" name="table 340"/>
          <p:cNvGraphicFramePr>
            <a:graphicFrameLocks noGrp="1"/>
          </p:cNvGraphicFramePr>
          <p:nvPr/>
        </p:nvGraphicFramePr>
        <p:xfrm>
          <a:off x="8180705" y="1287779"/>
          <a:ext cx="3526155" cy="251269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526154"/>
              </a:tblGrid>
              <a:tr h="4451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675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8595" algn="l" rtl="0" eaLnBrk="0">
                        <a:lnSpc>
                          <a:spcPct val="89000"/>
                        </a:lnSpc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 Coding Agent 辅助改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造时，缺少项目上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9865" algn="l" rtl="0" eaLnBrk="0">
                        <a:lnSpc>
                          <a:spcPts val="2160"/>
                        </a:lnSpc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下文，Agent 容易出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现：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4310" algn="l" rtl="0" eaLnBrk="0">
                        <a:lnSpc>
                          <a:spcPct val="91000"/>
                        </a:lnSpc>
                        <a:spcBef>
                          <a:spcPts val="875"/>
                        </a:spcBef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重复新增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key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4310" algn="l" rtl="0" eaLnBrk="0">
                        <a:lnSpc>
                          <a:spcPct val="89000"/>
                        </a:lnSpc>
                        <a:spcBef>
                          <a:spcPts val="855"/>
                        </a:spcBef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漏补弹窗文案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4310" algn="l" rtl="0" eaLnBrk="0">
                        <a:lnSpc>
                          <a:spcPct val="91000"/>
                        </a:lnSpc>
                        <a:spcBef>
                          <a:spcPts val="875"/>
                        </a:spcBef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沿用废弃</a:t>
                      </a: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key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4310" algn="l" rtl="0" eaLnBrk="0">
                        <a:lnSpc>
                          <a:spcPct val="89000"/>
                        </a:lnSpc>
                        <a:spcBef>
                          <a:spcPts val="850"/>
                        </a:spcBef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误把注释中文当成</a:t>
                      </a:r>
                      <a:r>
                        <a:rPr sz="12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UI 文案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431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2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不同模块改造风格不一致。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2" name="textbox 342"/>
          <p:cNvSpPr/>
          <p:nvPr/>
        </p:nvSpPr>
        <p:spPr>
          <a:xfrm>
            <a:off x="624376" y="651465"/>
            <a:ext cx="9391650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10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场景四：</a:t>
            </a:r>
            <a:r>
              <a:rPr sz="2700" b="1" kern="0" spc="-67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10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前端国际化治理 </a:t>
            </a:r>
            <a:r>
              <a:rPr sz="2700" b="1" kern="0" spc="10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 </a:t>
            </a:r>
            <a:r>
              <a:rPr sz="2700" b="1" kern="0" spc="10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</a:t>
            </a:r>
            <a:r>
              <a:rPr sz="2700" b="1" kern="0" spc="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Coding</a:t>
            </a:r>
            <a:r>
              <a:rPr sz="2700" b="1" kern="0" spc="10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2700" b="1" kern="0" spc="10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10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的知识底</a:t>
            </a:r>
            <a:r>
              <a:rPr sz="2700" b="1" kern="0" spc="9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座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8183880" y="1287779"/>
            <a:ext cx="3521075" cy="368934"/>
          </a:xfrm>
          <a:prstGeom prst="rect">
            <a:avLst/>
          </a:prstGeom>
          <a:solidFill>
            <a:srgbClr val="6666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82955" algn="l" rtl="0" eaLnBrk="0">
              <a:lnSpc>
                <a:spcPct val="89000"/>
              </a:lnSpc>
              <a:spcBef>
                <a:spcPts val="5"/>
              </a:spcBef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前端国际化开发项目痛点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6" name="textbox 346"/>
          <p:cNvSpPr/>
          <p:nvPr/>
        </p:nvSpPr>
        <p:spPr>
          <a:xfrm>
            <a:off x="8183880" y="4059935"/>
            <a:ext cx="3521075" cy="368934"/>
          </a:xfrm>
          <a:prstGeom prst="rect">
            <a:avLst/>
          </a:pr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1530" algn="l" rtl="0" eaLnBrk="0">
              <a:lnSpc>
                <a:spcPct val="89000"/>
              </a:lnSpc>
              <a:spcBef>
                <a:spcPts val="5"/>
              </a:spcBef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ContextDB 解法与效果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8" name="textbox 348"/>
          <p:cNvSpPr/>
          <p:nvPr/>
        </p:nvSpPr>
        <p:spPr>
          <a:xfrm>
            <a:off x="621741" y="1094943"/>
            <a:ext cx="4744084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记忆沉淀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聚合成文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审核入库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r>
              <a:rPr sz="1200" kern="0" spc="-7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picture 3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sp>
        <p:nvSpPr>
          <p:cNvPr id="352" name="textbox 352"/>
          <p:cNvSpPr/>
          <p:nvPr/>
        </p:nvSpPr>
        <p:spPr>
          <a:xfrm>
            <a:off x="537972" y="1316736"/>
            <a:ext cx="7309484" cy="5352415"/>
          </a:xfrm>
          <a:prstGeom prst="roundRect">
            <a:avLst>
              <a:gd name="adj" fmla="val 3114"/>
            </a:avLst>
          </a:prstGeom>
          <a:solidFill>
            <a:srgbClr val="FFFFFF">
              <a:alpha val="100000"/>
            </a:srgbClr>
          </a:solidFill>
          <a:ln w="6350" cap="flat">
            <a:solidFill>
              <a:srgbClr val="E2E8F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21970" algn="l" rtl="0" eaLnBrk="0">
              <a:lnSpc>
                <a:spcPct val="91000"/>
              </a:lnSpc>
              <a:spcBef>
                <a:spcPts val="5"/>
              </a:spcBef>
            </a:pPr>
            <a:r>
              <a:rPr sz="1100" b="1" kern="0" spc="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Context  ·  多 Agent 统一项目空间  ·  模块迁移/测试</a:t>
            </a:r>
            <a:r>
              <a:rPr sz="1100" b="1" kern="0" spc="-1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/Review/复盘沉淀为共享上下文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6844" y="1626108"/>
            <a:ext cx="6940297" cy="3671315"/>
          </a:xfrm>
          <a:prstGeom prst="rect">
            <a:avLst/>
          </a:prstGeom>
        </p:spPr>
      </p:pic>
      <p:graphicFrame>
        <p:nvGraphicFramePr>
          <p:cNvPr id="356" name="table 356"/>
          <p:cNvGraphicFramePr>
            <a:graphicFrameLocks noGrp="1"/>
          </p:cNvGraphicFramePr>
          <p:nvPr/>
        </p:nvGraphicFramePr>
        <p:xfrm>
          <a:off x="8168513" y="3783965"/>
          <a:ext cx="3526154" cy="2887979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60375"/>
                <a:gridCol w="3065779"/>
              </a:tblGrid>
              <a:tr h="44386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441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" indent="63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需求前：召回相关模块、历史改动与接口约    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束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690" indent="-635" algn="l" rtl="0" eaLnBrk="0">
                        <a:lnSpc>
                          <a:spcPct val="95000"/>
                        </a:lnSpc>
                        <a:spcBef>
                          <a:spcPts val="335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修改中：持续补充局部上下文，避免误改公    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共逻辑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" indent="-635" algn="l" rtl="0" eaLnBrk="0">
                        <a:lnSpc>
                          <a:spcPct val="95000"/>
                        </a:lnSpc>
                        <a:spcBef>
                          <a:spcPts val="340"/>
                        </a:spcBef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测试后：关联历史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CI </a:t>
                      </a: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失败与修复记录，自主  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690" algn="l" rtl="0" eaLnBrk="0">
                        <a:lnSpc>
                          <a:spcPct val="95000"/>
                        </a:lnSpc>
                      </a:pPr>
                      <a:r>
                        <a:rPr sz="1100" kern="0" spc="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完成后：自动沉淀变更摘要与经验，下次直      </a:t>
                      </a:r>
                      <a:r>
                        <a:rPr sz="1100" kern="0" spc="-10" dirty="0">
                          <a:solidFill>
                            <a:srgbClr val="18181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接复用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8" name="table 358"/>
          <p:cNvGraphicFramePr>
            <a:graphicFrameLocks noGrp="1"/>
          </p:cNvGraphicFramePr>
          <p:nvPr/>
        </p:nvGraphicFramePr>
        <p:xfrm>
          <a:off x="8168513" y="1220723"/>
          <a:ext cx="3526154" cy="25146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526154"/>
              </a:tblGrid>
              <a:tr h="4165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980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0" name="path 360"/>
          <p:cNvSpPr/>
          <p:nvPr/>
        </p:nvSpPr>
        <p:spPr>
          <a:xfrm>
            <a:off x="8525256" y="2874264"/>
            <a:ext cx="182879" cy="182879"/>
          </a:xfrm>
          <a:custGeom>
            <a:avLst/>
            <a:gdLst/>
            <a:ahLst/>
            <a:cxnLst/>
            <a:rect l="0" t="0" r="0" b="0"/>
            <a:pathLst>
              <a:path w="287" h="287">
                <a:moveTo>
                  <a:pt x="0" y="144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7" y="64"/>
                  <a:pt x="287" y="144"/>
                </a:cubicBezTo>
                <a:cubicBezTo>
                  <a:pt x="287" y="223"/>
                  <a:pt x="223" y="287"/>
                  <a:pt x="144" y="287"/>
                </a:cubicBezTo>
                <a:cubicBezTo>
                  <a:pt x="64" y="287"/>
                  <a:pt x="0" y="223"/>
                  <a:pt x="0" y="144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2" name="path 362"/>
          <p:cNvSpPr/>
          <p:nvPr/>
        </p:nvSpPr>
        <p:spPr>
          <a:xfrm>
            <a:off x="8525256" y="1685544"/>
            <a:ext cx="182879" cy="182880"/>
          </a:xfrm>
          <a:custGeom>
            <a:avLst/>
            <a:gdLst/>
            <a:ahLst/>
            <a:cxnLst/>
            <a:rect l="0" t="0" r="0" b="0"/>
            <a:pathLst>
              <a:path w="287" h="288">
                <a:moveTo>
                  <a:pt x="0" y="144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7" y="64"/>
                  <a:pt x="287" y="144"/>
                </a:cubicBezTo>
                <a:cubicBezTo>
                  <a:pt x="287" y="223"/>
                  <a:pt x="223" y="288"/>
                  <a:pt x="144" y="288"/>
                </a:cubicBezTo>
                <a:cubicBezTo>
                  <a:pt x="64" y="288"/>
                  <a:pt x="0" y="223"/>
                  <a:pt x="0" y="144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4" name="path 364"/>
          <p:cNvSpPr/>
          <p:nvPr/>
        </p:nvSpPr>
        <p:spPr>
          <a:xfrm>
            <a:off x="8525256" y="2279904"/>
            <a:ext cx="182879" cy="182879"/>
          </a:xfrm>
          <a:custGeom>
            <a:avLst/>
            <a:gdLst/>
            <a:ahLst/>
            <a:cxnLst/>
            <a:rect l="0" t="0" r="0" b="0"/>
            <a:pathLst>
              <a:path w="287" h="287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7" y="64"/>
                  <a:pt x="287" y="143"/>
                </a:cubicBezTo>
                <a:cubicBezTo>
                  <a:pt x="287" y="223"/>
                  <a:pt x="223" y="287"/>
                  <a:pt x="144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6" name="path 366"/>
          <p:cNvSpPr/>
          <p:nvPr/>
        </p:nvSpPr>
        <p:spPr>
          <a:xfrm>
            <a:off x="8525256" y="3468624"/>
            <a:ext cx="182879" cy="182879"/>
          </a:xfrm>
          <a:custGeom>
            <a:avLst/>
            <a:gdLst/>
            <a:ahLst/>
            <a:cxnLst/>
            <a:rect l="0" t="0" r="0" b="0"/>
            <a:pathLst>
              <a:path w="287" h="287">
                <a:moveTo>
                  <a:pt x="0" y="143"/>
                </a:moveTo>
                <a:cubicBezTo>
                  <a:pt x="0" y="64"/>
                  <a:pt x="64" y="0"/>
                  <a:pt x="144" y="0"/>
                </a:cubicBezTo>
                <a:cubicBezTo>
                  <a:pt x="223" y="0"/>
                  <a:pt x="287" y="64"/>
                  <a:pt x="287" y="143"/>
                </a:cubicBezTo>
                <a:cubicBezTo>
                  <a:pt x="287" y="223"/>
                  <a:pt x="223" y="287"/>
                  <a:pt x="144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8" name="textbox 368"/>
          <p:cNvSpPr/>
          <p:nvPr/>
        </p:nvSpPr>
        <p:spPr>
          <a:xfrm>
            <a:off x="8560231" y="1676597"/>
            <a:ext cx="2399664" cy="1964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500" b="1" kern="0" spc="-10" baseline="-1000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r>
              <a:rPr sz="900" kern="0" spc="15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 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不理解真实工程的长期演进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335"/>
              </a:spcBef>
            </a:pPr>
            <a:r>
              <a:rPr sz="1500" b="1" kern="0" spc="-10" baseline="-1000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r>
              <a:rPr sz="900" kern="0" spc="13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 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会话断开后对话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进度全丢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335"/>
              </a:spcBef>
            </a:pPr>
            <a:r>
              <a:rPr sz="1500" b="1" kern="0" spc="-10" baseline="-1000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r>
              <a:rPr sz="900" kern="0" spc="15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 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同一个坑反复踩，经验</a:t>
            </a:r>
            <a:r>
              <a:rPr sz="1100" kern="0" spc="-2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无法积累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9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sz="1500" b="1" kern="0" spc="-10" baseline="-1000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×</a:t>
            </a:r>
            <a:r>
              <a:rPr sz="900" kern="0" spc="14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 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sz="1100" kern="0" spc="-1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之间无法共享项目上下文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0" name="textbox 370"/>
          <p:cNvSpPr/>
          <p:nvPr/>
        </p:nvSpPr>
        <p:spPr>
          <a:xfrm>
            <a:off x="586885" y="698455"/>
            <a:ext cx="8736965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18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场景五：</a:t>
            </a:r>
            <a:r>
              <a:rPr sz="2700" b="1" kern="0" spc="-68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kern="0" spc="18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sz="2700" b="1" kern="0" spc="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Coding</a:t>
            </a:r>
            <a:r>
              <a:rPr sz="2700" b="1" kern="0" spc="18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asa</a:t>
            </a:r>
            <a:r>
              <a:rPr sz="2700" b="1" kern="0" spc="18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0" dirty="0">
                <a:solidFill>
                  <a:srgbClr val="1E64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Service</a:t>
            </a:r>
            <a:r>
              <a:rPr sz="2700" b="1" kern="0" spc="18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服务，帮助团队转</a:t>
            </a:r>
            <a:r>
              <a:rPr sz="2700" b="1" kern="0" spc="170" dirty="0">
                <a:solidFill>
                  <a:srgbClr val="1E64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2" name="textbox 372"/>
          <p:cNvSpPr/>
          <p:nvPr/>
        </p:nvSpPr>
        <p:spPr>
          <a:xfrm>
            <a:off x="8171688" y="1220723"/>
            <a:ext cx="3521075" cy="368934"/>
          </a:xfrm>
          <a:prstGeom prst="rect">
            <a:avLst/>
          </a:prstGeom>
          <a:solidFill>
            <a:srgbClr val="6666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3055" algn="l" rtl="0" eaLnBrk="0">
              <a:lnSpc>
                <a:spcPct val="89000"/>
              </a:lnSpc>
              <a:spcBef>
                <a:spcPts val="5"/>
              </a:spcBef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4" name="textbox 374"/>
          <p:cNvSpPr/>
          <p:nvPr/>
        </p:nvSpPr>
        <p:spPr>
          <a:xfrm>
            <a:off x="8171688" y="3787140"/>
            <a:ext cx="3521075" cy="368934"/>
          </a:xfrm>
          <a:prstGeom prst="rect">
            <a:avLst/>
          </a:prstGeom>
          <a:solidFill>
            <a:srgbClr val="0033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1530" algn="l" rtl="0" eaLnBrk="0">
              <a:lnSpc>
                <a:spcPct val="89000"/>
              </a:lnSpc>
              <a:spcBef>
                <a:spcPts val="0"/>
              </a:spcBef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ContextDB 解法与效果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6" name="textbox 376"/>
          <p:cNvSpPr/>
          <p:nvPr/>
        </p:nvSpPr>
        <p:spPr>
          <a:xfrm>
            <a:off x="645972" y="1133678"/>
            <a:ext cx="3663950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实例之间不再信息孤岛，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sz="1200" kern="0" spc="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带着完整工程记</a:t>
            </a:r>
            <a:r>
              <a:rPr sz="1200" kern="0" spc="-10" dirty="0">
                <a:solidFill>
                  <a:srgbClr val="0033C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忆开工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8" name="path 378"/>
          <p:cNvSpPr/>
          <p:nvPr/>
        </p:nvSpPr>
        <p:spPr>
          <a:xfrm>
            <a:off x="8388096" y="5550408"/>
            <a:ext cx="182879" cy="182880"/>
          </a:xfrm>
          <a:custGeom>
            <a:avLst/>
            <a:gdLst/>
            <a:ahLst/>
            <a:cxnLst/>
            <a:rect l="0" t="0" r="0" b="0"/>
            <a:pathLst>
              <a:path w="287" h="288">
                <a:moveTo>
                  <a:pt x="0" y="144"/>
                </a:moveTo>
                <a:cubicBezTo>
                  <a:pt x="0" y="64"/>
                  <a:pt x="64" y="0"/>
                  <a:pt x="143" y="0"/>
                </a:cubicBezTo>
                <a:cubicBezTo>
                  <a:pt x="223" y="0"/>
                  <a:pt x="287" y="64"/>
                  <a:pt x="287" y="144"/>
                </a:cubicBezTo>
                <a:cubicBezTo>
                  <a:pt x="287" y="223"/>
                  <a:pt x="223" y="288"/>
                  <a:pt x="143" y="288"/>
                </a:cubicBezTo>
                <a:cubicBezTo>
                  <a:pt x="64" y="288"/>
                  <a:pt x="0" y="223"/>
                  <a:pt x="0" y="144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0" name="path 380"/>
          <p:cNvSpPr/>
          <p:nvPr/>
        </p:nvSpPr>
        <p:spPr>
          <a:xfrm>
            <a:off x="8388096" y="6144767"/>
            <a:ext cx="182879" cy="182879"/>
          </a:xfrm>
          <a:custGeom>
            <a:avLst/>
            <a:gdLst/>
            <a:ahLst/>
            <a:cxnLst/>
            <a:rect l="0" t="0" r="0" b="0"/>
            <a:pathLst>
              <a:path w="287" h="287">
                <a:moveTo>
                  <a:pt x="0" y="143"/>
                </a:moveTo>
                <a:cubicBezTo>
                  <a:pt x="0" y="64"/>
                  <a:pt x="64" y="0"/>
                  <a:pt x="143" y="0"/>
                </a:cubicBezTo>
                <a:cubicBezTo>
                  <a:pt x="223" y="0"/>
                  <a:pt x="287" y="64"/>
                  <a:pt x="287" y="143"/>
                </a:cubicBezTo>
                <a:cubicBezTo>
                  <a:pt x="287" y="223"/>
                  <a:pt x="223" y="287"/>
                  <a:pt x="143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2" name="path 382"/>
          <p:cNvSpPr/>
          <p:nvPr/>
        </p:nvSpPr>
        <p:spPr>
          <a:xfrm>
            <a:off x="8388096" y="4361688"/>
            <a:ext cx="182879" cy="182879"/>
          </a:xfrm>
          <a:custGeom>
            <a:avLst/>
            <a:gdLst/>
            <a:ahLst/>
            <a:cxnLst/>
            <a:rect l="0" t="0" r="0" b="0"/>
            <a:pathLst>
              <a:path w="287" h="287">
                <a:moveTo>
                  <a:pt x="0" y="143"/>
                </a:moveTo>
                <a:cubicBezTo>
                  <a:pt x="0" y="64"/>
                  <a:pt x="64" y="0"/>
                  <a:pt x="143" y="0"/>
                </a:cubicBezTo>
                <a:cubicBezTo>
                  <a:pt x="223" y="0"/>
                  <a:pt x="287" y="64"/>
                  <a:pt x="287" y="143"/>
                </a:cubicBezTo>
                <a:cubicBezTo>
                  <a:pt x="287" y="223"/>
                  <a:pt x="223" y="287"/>
                  <a:pt x="143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4" name="path 384"/>
          <p:cNvSpPr/>
          <p:nvPr/>
        </p:nvSpPr>
        <p:spPr>
          <a:xfrm>
            <a:off x="8388096" y="4956047"/>
            <a:ext cx="182879" cy="182879"/>
          </a:xfrm>
          <a:custGeom>
            <a:avLst/>
            <a:gdLst/>
            <a:ahLst/>
            <a:cxnLst/>
            <a:rect l="0" t="0" r="0" b="0"/>
            <a:pathLst>
              <a:path w="287" h="287">
                <a:moveTo>
                  <a:pt x="0" y="143"/>
                </a:moveTo>
                <a:cubicBezTo>
                  <a:pt x="0" y="64"/>
                  <a:pt x="64" y="0"/>
                  <a:pt x="143" y="0"/>
                </a:cubicBezTo>
                <a:cubicBezTo>
                  <a:pt x="223" y="0"/>
                  <a:pt x="287" y="64"/>
                  <a:pt x="287" y="143"/>
                </a:cubicBezTo>
                <a:cubicBezTo>
                  <a:pt x="287" y="223"/>
                  <a:pt x="223" y="287"/>
                  <a:pt x="143" y="287"/>
                </a:cubicBezTo>
                <a:cubicBezTo>
                  <a:pt x="64" y="287"/>
                  <a:pt x="0" y="223"/>
                  <a:pt x="0" y="143"/>
                </a:cubicBezTo>
              </a:path>
            </a:pathLst>
          </a:custGeom>
          <a:solidFill>
            <a:srgbClr val="6D28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6" name="textbox 386"/>
          <p:cNvSpPr/>
          <p:nvPr/>
        </p:nvSpPr>
        <p:spPr>
          <a:xfrm>
            <a:off x="8424591" y="6164533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388" name="textbox 388"/>
          <p:cNvSpPr/>
          <p:nvPr/>
        </p:nvSpPr>
        <p:spPr>
          <a:xfrm>
            <a:off x="8424591" y="5570173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390" name="textbox 390"/>
          <p:cNvSpPr/>
          <p:nvPr/>
        </p:nvSpPr>
        <p:spPr>
          <a:xfrm>
            <a:off x="8424591" y="4381174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392" name="textbox 392"/>
          <p:cNvSpPr/>
          <p:nvPr/>
        </p:nvSpPr>
        <p:spPr>
          <a:xfrm>
            <a:off x="8424591" y="4975534"/>
            <a:ext cx="13144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✓</a:t>
            </a:r>
            <a:endParaRPr sz="900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3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620" y="0"/>
            <a:ext cx="12184380" cy="6857997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4366259" y="1603247"/>
            <a:ext cx="3703320" cy="4023360"/>
            <a:chOff x="0" y="0"/>
            <a:chExt cx="3703320" cy="4023360"/>
          </a:xfrm>
        </p:grpSpPr>
        <p:sp>
          <p:nvSpPr>
            <p:cNvPr id="396" name="rect 396"/>
            <p:cNvSpPr/>
            <p:nvPr/>
          </p:nvSpPr>
          <p:spPr>
            <a:xfrm>
              <a:off x="0" y="0"/>
              <a:ext cx="3703320" cy="4023360"/>
            </a:xfrm>
            <a:prstGeom prst="rect">
              <a:avLst/>
            </a:prstGeom>
            <a:solidFill>
              <a:srgbClr val="F1F5F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8" name="path 398"/>
            <p:cNvSpPr/>
            <p:nvPr/>
          </p:nvSpPr>
          <p:spPr>
            <a:xfrm>
              <a:off x="274320" y="320040"/>
              <a:ext cx="822960" cy="822959"/>
            </a:xfrm>
            <a:custGeom>
              <a:avLst/>
              <a:gdLst/>
              <a:ahLst/>
              <a:cxnLst/>
              <a:rect l="0" t="0" r="0" b="0"/>
              <a:pathLst>
                <a:path w="1296" h="1295">
                  <a:moveTo>
                    <a:pt x="0" y="647"/>
                  </a:moveTo>
                  <a:cubicBezTo>
                    <a:pt x="0" y="290"/>
                    <a:pt x="290" y="0"/>
                    <a:pt x="647" y="0"/>
                  </a:cubicBezTo>
                  <a:lnTo>
                    <a:pt x="647" y="0"/>
                  </a:lnTo>
                  <a:cubicBezTo>
                    <a:pt x="1005" y="0"/>
                    <a:pt x="1296" y="290"/>
                    <a:pt x="1296" y="647"/>
                  </a:cubicBezTo>
                  <a:lnTo>
                    <a:pt x="1296" y="647"/>
                  </a:lnTo>
                  <a:cubicBezTo>
                    <a:pt x="1296" y="1005"/>
                    <a:pt x="1005" y="1295"/>
                    <a:pt x="647" y="1295"/>
                  </a:cubicBezTo>
                  <a:lnTo>
                    <a:pt x="647" y="1295"/>
                  </a:lnTo>
                  <a:cubicBezTo>
                    <a:pt x="290" y="1295"/>
                    <a:pt x="0" y="1005"/>
                    <a:pt x="0" y="647"/>
                  </a:cubicBezTo>
                </a:path>
              </a:pathLst>
            </a:custGeom>
            <a:solidFill>
              <a:srgbClr val="3B82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0" name="textbox 400"/>
            <p:cNvSpPr/>
            <p:nvPr/>
          </p:nvSpPr>
          <p:spPr>
            <a:xfrm>
              <a:off x="286309" y="619673"/>
              <a:ext cx="3072129" cy="31864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4635" algn="l" rtl="0" eaLnBrk="0">
                <a:lnSpc>
                  <a:spcPct val="82000"/>
                </a:lnSpc>
              </a:pPr>
              <a:r>
                <a:rPr sz="2100" b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335" algn="l" rtl="0" eaLnBrk="0">
                <a:lnSpc>
                  <a:spcPct val="94000"/>
                </a:lnSpc>
                <a:spcBef>
                  <a:spcPts val="460"/>
                </a:spcBef>
              </a:pPr>
              <a:r>
                <a:rPr sz="1500" b="1" kern="0" spc="9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个人办公协作助手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4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83185" algn="l" rtl="0" eaLnBrk="0">
                <a:lnSpc>
                  <a:spcPct val="106000"/>
                </a:lnSpc>
                <a:spcBef>
                  <a:spcPts val="370"/>
                </a:spcBef>
              </a:pP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【痛点】会议、邮件、文</a:t>
              </a:r>
              <a:r>
                <a:rPr sz="1200" kern="0" spc="-4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档与任务分散；跨会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话反复补背景，决策、进展和修改偏好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容易丢</a:t>
              </a: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失。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indent="83820" algn="l" rtl="0" eaLnBrk="0">
                <a:lnSpc>
                  <a:spcPct val="106000"/>
                </a:lnSpc>
                <a:spcBef>
                  <a:spcPts val="120"/>
                </a:spcBef>
              </a:pP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【方案】①组织：按个人</a:t>
              </a:r>
              <a:r>
                <a:rPr sz="1200" kern="0" spc="-4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、项目与任务沉淀记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忆；②供给：组合个人偏好、项目历史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和近期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进展；③演进：修改、采纳与结果持续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校正记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忆，私有内容按权限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隔离。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indent="83185" algn="l" rtl="0" eaLnBrk="0">
                <a:lnSpc>
                  <a:spcPct val="102000"/>
                </a:lnSpc>
                <a:spcBef>
                  <a:spcPts val="85"/>
                </a:spcBef>
              </a:pPr>
              <a:r>
                <a:rPr sz="1200" kern="0" spc="-4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【价值】连续与个性化：少补背景、少遗漏</a:t>
              </a:r>
              <a:r>
                <a:rPr sz="1200" kern="0" spc="-5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少返工，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Agent 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越用越懂个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人工作。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2" name="rect 402"/>
            <p:cNvSpPr/>
            <p:nvPr/>
          </p:nvSpPr>
          <p:spPr>
            <a:xfrm>
              <a:off x="0" y="0"/>
              <a:ext cx="3703320" cy="109728"/>
            </a:xfrm>
            <a:prstGeom prst="rect">
              <a:avLst/>
            </a:pr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4" name="path 404"/>
            <p:cNvSpPr/>
            <p:nvPr/>
          </p:nvSpPr>
          <p:spPr>
            <a:xfrm>
              <a:off x="274320" y="1874520"/>
              <a:ext cx="457200" cy="27432"/>
            </a:xfrm>
            <a:custGeom>
              <a:avLst/>
              <a:gdLst/>
              <a:ahLst/>
              <a:cxnLst/>
              <a:rect l="0" t="0" r="0" b="0"/>
              <a:pathLst>
                <a:path w="720" h="43">
                  <a:moveTo>
                    <a:pt x="0" y="43"/>
                  </a:moveTo>
                  <a:lnTo>
                    <a:pt x="720" y="43"/>
                  </a:lnTo>
                  <a:lnTo>
                    <a:pt x="720" y="0"/>
                  </a:lnTo>
                  <a:lnTo>
                    <a:pt x="0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8206740" y="1603247"/>
            <a:ext cx="3703320" cy="4023360"/>
            <a:chOff x="0" y="0"/>
            <a:chExt cx="3703320" cy="4023360"/>
          </a:xfrm>
        </p:grpSpPr>
        <p:sp>
          <p:nvSpPr>
            <p:cNvPr id="406" name="rect 406"/>
            <p:cNvSpPr/>
            <p:nvPr/>
          </p:nvSpPr>
          <p:spPr>
            <a:xfrm>
              <a:off x="0" y="0"/>
              <a:ext cx="3703319" cy="4023360"/>
            </a:xfrm>
            <a:prstGeom prst="rect">
              <a:avLst/>
            </a:prstGeom>
            <a:solidFill>
              <a:srgbClr val="F1F5F9">
                <a:alpha val="98823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8" name="path 408"/>
            <p:cNvSpPr/>
            <p:nvPr/>
          </p:nvSpPr>
          <p:spPr>
            <a:xfrm>
              <a:off x="274319" y="320040"/>
              <a:ext cx="822959" cy="822959"/>
            </a:xfrm>
            <a:custGeom>
              <a:avLst/>
              <a:gdLst/>
              <a:ahLst/>
              <a:cxnLst/>
              <a:rect l="0" t="0" r="0" b="0"/>
              <a:pathLst>
                <a:path w="1295" h="1295">
                  <a:moveTo>
                    <a:pt x="0" y="647"/>
                  </a:moveTo>
                  <a:cubicBezTo>
                    <a:pt x="0" y="290"/>
                    <a:pt x="290" y="0"/>
                    <a:pt x="648" y="0"/>
                  </a:cubicBezTo>
                  <a:lnTo>
                    <a:pt x="648" y="0"/>
                  </a:lnTo>
                  <a:cubicBezTo>
                    <a:pt x="1005" y="0"/>
                    <a:pt x="1295" y="290"/>
                    <a:pt x="1295" y="647"/>
                  </a:cubicBezTo>
                  <a:lnTo>
                    <a:pt x="1295" y="647"/>
                  </a:lnTo>
                  <a:cubicBezTo>
                    <a:pt x="1295" y="1005"/>
                    <a:pt x="1005" y="1295"/>
                    <a:pt x="648" y="1295"/>
                  </a:cubicBezTo>
                  <a:lnTo>
                    <a:pt x="648" y="1295"/>
                  </a:lnTo>
                  <a:cubicBezTo>
                    <a:pt x="290" y="1295"/>
                    <a:pt x="0" y="1005"/>
                    <a:pt x="0" y="647"/>
                  </a:cubicBezTo>
                </a:path>
              </a:pathLst>
            </a:custGeom>
            <a:solidFill>
              <a:srgbClr val="3B82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0" name="textbox 410"/>
            <p:cNvSpPr/>
            <p:nvPr/>
          </p:nvSpPr>
          <p:spPr>
            <a:xfrm>
              <a:off x="286942" y="619673"/>
              <a:ext cx="3116579" cy="31864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4000" algn="l" rtl="0" eaLnBrk="0">
                <a:lnSpc>
                  <a:spcPct val="82000"/>
                </a:lnSpc>
              </a:pPr>
              <a:r>
                <a:rPr sz="2100" b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6670" algn="l" rtl="0" eaLnBrk="0">
                <a:lnSpc>
                  <a:spcPct val="94000"/>
                </a:lnSpc>
                <a:spcBef>
                  <a:spcPts val="460"/>
                </a:spcBef>
              </a:pPr>
              <a:r>
                <a:rPr sz="1500" b="1" kern="0" spc="8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 </a:t>
              </a:r>
              <a:r>
                <a:rPr sz="1500" b="1" kern="0" spc="8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 </a:t>
              </a:r>
              <a:r>
                <a:rPr sz="1500" b="1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OPC</a:t>
              </a:r>
              <a:r>
                <a:rPr sz="1500" b="1" kern="0" spc="8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：经营知识增长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4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5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83820" algn="l" rtl="0" eaLnBrk="0">
                <a:lnSpc>
                  <a:spcPct val="106000"/>
                </a:lnSpc>
                <a:spcBef>
                  <a:spcPts val="360"/>
                </a:spcBef>
              </a:pP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【痛点】一人调用获客、</a:t>
              </a:r>
              <a:r>
                <a:rPr sz="1200" kern="0" spc="-4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销售、交付、客服多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</a:t>
              </a:r>
              <a:r>
                <a:rPr sz="1200" kern="0" spc="-9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Agent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；客户画像反复搬运，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Agent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之间不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共享经验。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indent="83820" algn="l" rtl="0" eaLnBrk="0">
                <a:lnSpc>
                  <a:spcPct val="104000"/>
                </a:lnSpc>
                <a:spcBef>
                  <a:spcPts val="90"/>
                </a:spcBef>
              </a:pP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【方案】①统一：按客户和项目建 </a:t>
              </a: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Workspace</a:t>
              </a:r>
              <a:r>
                <a:rPr sz="1200" kern="0" spc="5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4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;②协同：共享客户状态、经营动作和历史结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果；③复利：用转化、交付和评</a:t>
              </a:r>
              <a:r>
                <a:rPr sz="1200" kern="0" spc="-2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价验证打法，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3335" algn="l" rtl="0" eaLnBrk="0">
                <a:lnSpc>
                  <a:spcPct val="89000"/>
                </a:lnSpc>
                <a:spcBef>
                  <a:spcPts val="220"/>
                </a:spcBef>
              </a:pP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经评审晋升知识。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indent="83185" algn="l" rtl="0" eaLnBrk="0">
                <a:lnSpc>
                  <a:spcPct val="102000"/>
                </a:lnSpc>
                <a:spcBef>
                  <a:spcPts val="210"/>
                </a:spcBef>
              </a:pP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【价值】经营协同：成为</a:t>
              </a:r>
              <a:r>
                <a:rPr sz="1200" kern="0" spc="-4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一人公司的共享经营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记忆，连接多</a:t>
              </a:r>
              <a:r>
                <a:rPr sz="1200" kern="0" spc="-9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Agent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，沉淀可复制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的方法。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2" name="rect 412"/>
            <p:cNvSpPr/>
            <p:nvPr/>
          </p:nvSpPr>
          <p:spPr>
            <a:xfrm>
              <a:off x="0" y="0"/>
              <a:ext cx="3703320" cy="109728"/>
            </a:xfrm>
            <a:prstGeom prst="rect">
              <a:avLst/>
            </a:pr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4" name="path 414"/>
            <p:cNvSpPr/>
            <p:nvPr/>
          </p:nvSpPr>
          <p:spPr>
            <a:xfrm>
              <a:off x="274319" y="1874520"/>
              <a:ext cx="457200" cy="27432"/>
            </a:xfrm>
            <a:custGeom>
              <a:avLst/>
              <a:gdLst/>
              <a:ahLst/>
              <a:cxnLst/>
              <a:rect l="0" t="0" r="0" b="0"/>
              <a:pathLst>
                <a:path w="720" h="43">
                  <a:moveTo>
                    <a:pt x="0" y="43"/>
                  </a:moveTo>
                  <a:lnTo>
                    <a:pt x="720" y="43"/>
                  </a:lnTo>
                  <a:lnTo>
                    <a:pt x="720" y="0"/>
                  </a:lnTo>
                  <a:lnTo>
                    <a:pt x="0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525780" y="1603247"/>
            <a:ext cx="3703320" cy="4023360"/>
            <a:chOff x="0" y="0"/>
            <a:chExt cx="3703320" cy="4023360"/>
          </a:xfrm>
        </p:grpSpPr>
        <p:sp>
          <p:nvSpPr>
            <p:cNvPr id="416" name="rect 416"/>
            <p:cNvSpPr/>
            <p:nvPr/>
          </p:nvSpPr>
          <p:spPr>
            <a:xfrm>
              <a:off x="0" y="0"/>
              <a:ext cx="3703320" cy="4023360"/>
            </a:xfrm>
            <a:prstGeom prst="rect">
              <a:avLst/>
            </a:prstGeom>
            <a:solidFill>
              <a:srgbClr val="F1F5F9">
                <a:alpha val="97254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8" name="path 418"/>
            <p:cNvSpPr/>
            <p:nvPr/>
          </p:nvSpPr>
          <p:spPr>
            <a:xfrm>
              <a:off x="274319" y="320040"/>
              <a:ext cx="822960" cy="822959"/>
            </a:xfrm>
            <a:custGeom>
              <a:avLst/>
              <a:gdLst/>
              <a:ahLst/>
              <a:cxnLst/>
              <a:rect l="0" t="0" r="0" b="0"/>
              <a:pathLst>
                <a:path w="1296" h="1295">
                  <a:moveTo>
                    <a:pt x="0" y="647"/>
                  </a:moveTo>
                  <a:cubicBezTo>
                    <a:pt x="0" y="290"/>
                    <a:pt x="290" y="0"/>
                    <a:pt x="648" y="0"/>
                  </a:cubicBezTo>
                  <a:lnTo>
                    <a:pt x="648" y="0"/>
                  </a:lnTo>
                  <a:cubicBezTo>
                    <a:pt x="1005" y="0"/>
                    <a:pt x="1296" y="290"/>
                    <a:pt x="1296" y="647"/>
                  </a:cubicBezTo>
                  <a:lnTo>
                    <a:pt x="1296" y="647"/>
                  </a:lnTo>
                  <a:cubicBezTo>
                    <a:pt x="1296" y="1005"/>
                    <a:pt x="1005" y="1295"/>
                    <a:pt x="648" y="1295"/>
                  </a:cubicBezTo>
                  <a:lnTo>
                    <a:pt x="648" y="1295"/>
                  </a:lnTo>
                  <a:cubicBezTo>
                    <a:pt x="290" y="1295"/>
                    <a:pt x="0" y="1005"/>
                    <a:pt x="0" y="647"/>
                  </a:cubicBezTo>
                </a:path>
              </a:pathLst>
            </a:custGeom>
            <a:solidFill>
              <a:srgbClr val="3B82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0" name="textbox 420"/>
            <p:cNvSpPr/>
            <p:nvPr/>
          </p:nvSpPr>
          <p:spPr>
            <a:xfrm>
              <a:off x="239521" y="619673"/>
              <a:ext cx="3126104" cy="33877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0990" algn="l" rtl="0" eaLnBrk="0">
                <a:lnSpc>
                  <a:spcPct val="82000"/>
                </a:lnSpc>
              </a:pPr>
              <a:r>
                <a:rPr sz="2100" b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9055" algn="l" rtl="0" eaLnBrk="0">
                <a:lnSpc>
                  <a:spcPct val="94000"/>
                </a:lnSpc>
                <a:spcBef>
                  <a:spcPts val="460"/>
                </a:spcBef>
              </a:pPr>
              <a:r>
                <a:rPr sz="1500" b="1" kern="0" spc="10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产品问答助手 </a:t>
              </a:r>
              <a:r>
                <a:rPr sz="1500" b="1" kern="0" spc="10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×</a:t>
              </a:r>
              <a:r>
                <a:rPr sz="1500" b="1" kern="0" spc="-16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500" b="1" kern="0" spc="10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销售赋能助手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4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84455" algn="l" rtl="0" eaLnBrk="0">
                <a:lnSpc>
                  <a:spcPct val="106000"/>
                </a:lnSpc>
                <a:spcBef>
                  <a:spcPts val="365"/>
                </a:spcBef>
              </a:pP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【痛点】产品资料多版</a:t>
              </a:r>
              <a:r>
                <a:rPr sz="1200" kern="0" spc="-4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本、销售口径不一；客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户新问题与异议留在销售个人对话</a:t>
              </a:r>
              <a:r>
                <a:rPr sz="1200" kern="0" spc="-18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，好的销售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经验难复用。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97155" algn="l" rtl="0" eaLnBrk="0">
                <a:lnSpc>
                  <a:spcPct val="89000"/>
                </a:lnSpc>
                <a:spcBef>
                  <a:spcPts val="160"/>
                </a:spcBef>
              </a:pPr>
              <a:r>
                <a:rPr sz="1200" kern="0" spc="-4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【方案】①治理：手册、方案解析通</a:t>
              </a:r>
              <a:r>
                <a:rPr sz="1200" kern="0" spc="-5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过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indent="4445" algn="l" rtl="0" eaLnBrk="0">
                <a:lnSpc>
                  <a:spcPct val="106000"/>
                </a:lnSpc>
                <a:spcBef>
                  <a:spcPts val="215"/>
                </a:spcBef>
              </a:pP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contextdb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体系化；②对接：综合产品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知识、客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户记忆和相似案例给出反馈；③生长：高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频内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容经评审晋升知识沉淀经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验。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indent="83820" algn="l" rtl="0" eaLnBrk="0">
                <a:lnSpc>
                  <a:spcPct val="106000"/>
                </a:lnSpc>
                <a:spcBef>
                  <a:spcPts val="85"/>
                </a:spcBef>
              </a:pPr>
              <a:r>
                <a:rPr sz="1200" kern="0" spc="-3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【价值】问答中积累经验</a:t>
              </a:r>
              <a:r>
                <a:rPr sz="1200" kern="0" spc="-4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，统一可信口径，加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快售前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/</a:t>
              </a:r>
              <a:r>
                <a:rPr sz="1200" kern="0" spc="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后响应，让客户反馈持续更新，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反哺知</a:t>
              </a:r>
              <a:r>
                <a:rPr sz="1200" kern="0" spc="-10" dirty="0">
                  <a:solidFill>
                    <a:srgbClr val="0F172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识体系建立。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2" name="rect 422"/>
            <p:cNvSpPr/>
            <p:nvPr/>
          </p:nvSpPr>
          <p:spPr>
            <a:xfrm>
              <a:off x="0" y="0"/>
              <a:ext cx="3703320" cy="109728"/>
            </a:xfrm>
            <a:prstGeom prst="rect">
              <a:avLst/>
            </a:pr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4" name="path 424"/>
            <p:cNvSpPr/>
            <p:nvPr/>
          </p:nvSpPr>
          <p:spPr>
            <a:xfrm>
              <a:off x="274319" y="1874520"/>
              <a:ext cx="457200" cy="27432"/>
            </a:xfrm>
            <a:custGeom>
              <a:avLst/>
              <a:gdLst/>
              <a:ahLst/>
              <a:cxnLst/>
              <a:rect l="0" t="0" r="0" b="0"/>
              <a:pathLst>
                <a:path w="720" h="43">
                  <a:moveTo>
                    <a:pt x="0" y="43"/>
                  </a:moveTo>
                  <a:lnTo>
                    <a:pt x="720" y="43"/>
                  </a:lnTo>
                  <a:lnTo>
                    <a:pt x="720" y="0"/>
                  </a:lnTo>
                  <a:lnTo>
                    <a:pt x="0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8B5CF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26" name="textbox 426"/>
          <p:cNvSpPr/>
          <p:nvPr/>
        </p:nvSpPr>
        <p:spPr>
          <a:xfrm>
            <a:off x="525780" y="5763767"/>
            <a:ext cx="11109959" cy="951230"/>
          </a:xfrm>
          <a:prstGeom prst="rect">
            <a:avLst/>
          </a:prstGeom>
          <a:solidFill>
            <a:srgbClr val="EEF2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3525" algn="l" rtl="0" eaLnBrk="0">
              <a:lnSpc>
                <a:spcPct val="78000"/>
              </a:lnSpc>
              <a:spcBef>
                <a:spcPts val="5"/>
              </a:spcBef>
            </a:pPr>
            <a:r>
              <a:rPr sz="1100" i="1" kern="0" spc="-10" dirty="0">
                <a:solidFill>
                  <a:srgbClr val="8B5C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 Growth Loop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635" algn="l" rtl="0" eaLnBrk="0">
              <a:lnSpc>
                <a:spcPct val="89000"/>
              </a:lnSpc>
            </a:pPr>
            <a:r>
              <a:rPr sz="1500" b="1" kern="0" spc="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</a:t>
            </a:r>
            <a:r>
              <a:rPr sz="1500" b="1" kern="0" spc="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</a:t>
            </a:r>
            <a:r>
              <a:rPr sz="1500" b="1" kern="0" spc="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</a:t>
            </a:r>
            <a:r>
              <a:rPr sz="1500" b="1" kern="0" spc="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</a:t>
            </a:r>
            <a:r>
              <a:rPr sz="1500" b="1" kern="0" spc="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召回与组合</a:t>
            </a:r>
            <a:r>
              <a:rPr sz="1500" b="1" kern="0" spc="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</a:t>
            </a:r>
            <a:r>
              <a:rPr sz="1500" b="1" kern="0" spc="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执行反馈</a:t>
            </a:r>
            <a:r>
              <a:rPr sz="1500" b="1" kern="0" spc="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</a:t>
            </a:r>
            <a:r>
              <a:rPr sz="1500" b="1" kern="0" spc="-1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评估演进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539946" y="745064"/>
            <a:ext cx="1442085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2700" b="1" kern="0" spc="80" dirty="0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场景探索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picture 4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432" name="textbox 432"/>
          <p:cNvSpPr/>
          <p:nvPr/>
        </p:nvSpPr>
        <p:spPr>
          <a:xfrm>
            <a:off x="769327" y="3244088"/>
            <a:ext cx="5751829" cy="948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400" kern="0" spc="240" dirty="0">
                <a:solidFill>
                  <a:srgbClr val="D5E1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sz="2400" kern="0" spc="0" dirty="0">
                <a:solidFill>
                  <a:srgbClr val="D5E1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</a:t>
            </a:r>
            <a:r>
              <a:rPr sz="2400" kern="0" spc="240" dirty="0">
                <a:solidFill>
                  <a:srgbClr val="D5E1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持续生长</a:t>
            </a:r>
            <a:r>
              <a:rPr sz="2400" kern="0" spc="-310" dirty="0">
                <a:solidFill>
                  <a:srgbClr val="D5E1E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kern="0" spc="240" dirty="0">
                <a:solidFill>
                  <a:srgbClr val="D7E2E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400" kern="0" spc="230" dirty="0">
                <a:solidFill>
                  <a:srgbClr val="D7E2E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400" kern="0" spc="240" dirty="0">
                <a:solidFill>
                  <a:srgbClr val="D2DFE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sz="2400" kern="0" spc="0" dirty="0">
                <a:solidFill>
                  <a:srgbClr val="D2DFE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sz="2400" kern="0" spc="240" dirty="0">
                <a:solidFill>
                  <a:srgbClr val="D2DFE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持续进化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9000"/>
              </a:lnSpc>
              <a:spcBef>
                <a:spcPts val="5"/>
              </a:spcBef>
            </a:pPr>
            <a:r>
              <a:rPr sz="1500" i="1" kern="0" spc="-10" dirty="0">
                <a:solidFill>
                  <a:srgbClr val="D5D5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RDS</a:t>
            </a:r>
            <a:r>
              <a:rPr sz="1500" i="1" kern="0" spc="140" dirty="0">
                <a:solidFill>
                  <a:srgbClr val="D5D5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i="1" kern="0" spc="-10" dirty="0">
                <a:solidFill>
                  <a:srgbClr val="D5D5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ContextDB</a:t>
            </a:r>
            <a:r>
              <a:rPr sz="1500" i="1" kern="0" spc="100" dirty="0">
                <a:solidFill>
                  <a:srgbClr val="D5D5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500" i="1" kern="0" spc="-20" dirty="0">
                <a:solidFill>
                  <a:srgbClr val="D5D5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500" i="1" kern="0" spc="-20" dirty="0">
                <a:solidFill>
                  <a:srgbClr val="D5D5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</a:t>
            </a:r>
            <a:r>
              <a:rPr sz="1500" i="1" kern="0" spc="-20" dirty="0">
                <a:solidFill>
                  <a:srgbClr val="D5D5D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1500" i="1" kern="0" spc="-20" dirty="0">
                <a:solidFill>
                  <a:srgbClr val="D5D5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的企业级上下文数据库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777956" y="2169511"/>
            <a:ext cx="3075304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3000"/>
              </a:lnSpc>
            </a:pPr>
            <a:r>
              <a:rPr sz="4800" b="1" kern="0" spc="-7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 You</a:t>
            </a:r>
            <a:endParaRPr sz="4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6" name="path 436"/>
          <p:cNvSpPr/>
          <p:nvPr/>
        </p:nvSpPr>
        <p:spPr>
          <a:xfrm>
            <a:off x="754380" y="2930652"/>
            <a:ext cx="4114800" cy="54864"/>
          </a:xfrm>
          <a:custGeom>
            <a:avLst/>
            <a:gdLst/>
            <a:ahLst/>
            <a:cxnLst/>
            <a:rect l="0" t="0" r="0" b="0"/>
            <a:pathLst>
              <a:path w="6480" h="86">
                <a:moveTo>
                  <a:pt x="0" y="86"/>
                </a:moveTo>
                <a:lnTo>
                  <a:pt x="4320" y="86"/>
                </a:lnTo>
                <a:lnTo>
                  <a:pt x="4320" y="0"/>
                </a:lnTo>
                <a:lnTo>
                  <a:pt x="0" y="0"/>
                </a:lnTo>
                <a:lnTo>
                  <a:pt x="0" y="86"/>
                </a:lnTo>
                <a:close/>
              </a:path>
              <a:path w="6480" h="86">
                <a:moveTo>
                  <a:pt x="4320" y="86"/>
                </a:moveTo>
                <a:lnTo>
                  <a:pt x="6480" y="86"/>
                </a:lnTo>
                <a:lnTo>
                  <a:pt x="6480" y="0"/>
                </a:lnTo>
                <a:lnTo>
                  <a:pt x="4320" y="0"/>
                </a:lnTo>
                <a:lnTo>
                  <a:pt x="4320" y="86"/>
                </a:lnTo>
                <a:close/>
              </a:path>
            </a:pathLst>
          </a:custGeom>
          <a:solidFill>
            <a:srgbClr val="90CA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4496</Words>
  <Application>WPS 演示</Application>
  <PresentationFormat/>
  <Paragraphs>521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MS Gothic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曼曼 朱</dc:creator>
  <cp:lastModifiedBy>孙</cp:lastModifiedBy>
  <cp:revision>1</cp:revision>
  <dcterms:created xsi:type="dcterms:W3CDTF">2026-08-17T16:46:45Z</dcterms:created>
  <dcterms:modified xsi:type="dcterms:W3CDTF">2026-08-17T16:46:45Z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2026-08-18T00:38:36Z</vt:filetime>
  </property>
  <property fmtid="{D5CDD505-2E9C-101B-9397-08002B2CF9AE}" pid="4" name="ICV">
    <vt:lpwstr>A2FCEA504A3D4FD6BCA82A29DB9B399B_12</vt:lpwstr>
  </property>
  <property fmtid="{D5CDD505-2E9C-101B-9397-08002B2CF9AE}" pid="5" name="KSOProductBuildVer">
    <vt:lpwstr>2052-12.1.0.23125</vt:lpwstr>
  </property>
</Properties>
</file>